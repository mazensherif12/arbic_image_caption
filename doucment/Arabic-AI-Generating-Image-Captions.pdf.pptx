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0972800"/>
  <p:notesSz cx="6858000" cy="9144000"/>
  <p:embeddedFontLst>
    <p:embeddedFont>
      <p:font typeface="Montserrat Bold" charset="1" panose="00000600000000000000"/>
      <p:regular r:id="rId16"/>
    </p:embeddedFont>
    <p:embeddedFont>
      <p:font typeface="Arimo" charset="1" panose="020B0604020202020204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0" y="2273456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2"/>
                </a:lnTo>
                <a:lnTo>
                  <a:pt x="0" y="6438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" t="-3" r="-7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575" y="4527337"/>
            <a:ext cx="51979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Arabic AI: Generating Image Captions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0437" y="5744899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7575" y="5859199"/>
            <a:ext cx="5438823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Unlocking thepotentialof AItodescribeimagesinArabic,bridging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7575" y="6154474"/>
            <a:ext cx="3447231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language barriers in visual understanding.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622" y="5572020"/>
            <a:ext cx="3413122" cy="1774822"/>
          </a:xfrm>
          <a:custGeom>
            <a:avLst/>
            <a:gdLst/>
            <a:ahLst/>
            <a:cxnLst/>
            <a:rect r="r" b="b" t="t" l="l"/>
            <a:pathLst>
              <a:path h="1774822" w="3413122">
                <a:moveTo>
                  <a:pt x="0" y="0"/>
                </a:moveTo>
                <a:lnTo>
                  <a:pt x="3413122" y="0"/>
                </a:lnTo>
                <a:lnTo>
                  <a:pt x="3413122" y="1774822"/>
                </a:lnTo>
                <a:lnTo>
                  <a:pt x="0" y="1774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3672" y="5572020"/>
            <a:ext cx="3403597" cy="1774822"/>
          </a:xfrm>
          <a:custGeom>
            <a:avLst/>
            <a:gdLst/>
            <a:ahLst/>
            <a:cxnLst/>
            <a:rect r="r" b="b" t="t" l="l"/>
            <a:pathLst>
              <a:path h="1774822" w="3403597">
                <a:moveTo>
                  <a:pt x="0" y="0"/>
                </a:moveTo>
                <a:lnTo>
                  <a:pt x="3403597" y="0"/>
                </a:lnTo>
                <a:lnTo>
                  <a:pt x="3403597" y="1774822"/>
                </a:lnTo>
                <a:lnTo>
                  <a:pt x="0" y="1774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42197" y="5572020"/>
            <a:ext cx="3413122" cy="1774822"/>
          </a:xfrm>
          <a:custGeom>
            <a:avLst/>
            <a:gdLst/>
            <a:ahLst/>
            <a:cxnLst/>
            <a:rect r="r" b="b" t="t" l="l"/>
            <a:pathLst>
              <a:path h="1774822" w="3413122">
                <a:moveTo>
                  <a:pt x="0" y="0"/>
                </a:moveTo>
                <a:lnTo>
                  <a:pt x="3413122" y="0"/>
                </a:lnTo>
                <a:lnTo>
                  <a:pt x="3413122" y="1774822"/>
                </a:lnTo>
                <a:lnTo>
                  <a:pt x="0" y="1774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7575" y="3698662"/>
            <a:ext cx="1039132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Overview: Building an Arabic Image Captioning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437" y="5011474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1587" y="5729126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950" y="6135424"/>
            <a:ext cx="2569778" cy="93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Combines advanced computer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vision with natural language </a:t>
            </a:r>
          </a:p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processing.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9679" y="5729126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41609" y="6135424"/>
            <a:ext cx="2590552" cy="93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Generates relevant and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contextually appropriate Arabic </a:t>
            </a:r>
          </a:p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captions.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3707" y="5729126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7288" y="6135424"/>
            <a:ext cx="2837688" cy="93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From accessibility tools to content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localization, enhancing user </a:t>
            </a:r>
          </a:p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experience.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575" y="5154349"/>
            <a:ext cx="10247719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This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presentation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details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architecture,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development,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performance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of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our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AI-powered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Arabic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captioning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system.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5950" y="5805326"/>
            <a:ext cx="25261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41609" y="5805326"/>
            <a:ext cx="26627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Accurate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87288" y="5805326"/>
            <a:ext cx="263739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PracticalApplications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456"/>
            <a:ext cx="11556997" cy="11109322"/>
            <a:chOff x="0" y="0"/>
            <a:chExt cx="11557000" cy="11109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10982325"/>
            </a:xfrm>
            <a:custGeom>
              <a:avLst/>
              <a:gdLst/>
              <a:ahLst/>
              <a:cxnLst/>
              <a:rect r="r" b="b" t="t" l="l"/>
              <a:pathLst>
                <a:path h="10982325" w="11430000">
                  <a:moveTo>
                    <a:pt x="0" y="0"/>
                  </a:moveTo>
                  <a:lnTo>
                    <a:pt x="0" y="10982325"/>
                  </a:lnTo>
                  <a:lnTo>
                    <a:pt x="11430000" y="10982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10982325"/>
            </a:xfrm>
            <a:custGeom>
              <a:avLst/>
              <a:gdLst/>
              <a:ahLst/>
              <a:cxnLst/>
              <a:rect r="r" b="b" t="t" l="l"/>
              <a:pathLst>
                <a:path h="10982325" w="11430000">
                  <a:moveTo>
                    <a:pt x="0" y="0"/>
                  </a:moveTo>
                  <a:lnTo>
                    <a:pt x="0" y="10982325"/>
                  </a:lnTo>
                  <a:lnTo>
                    <a:pt x="11430000" y="10982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10982325"/>
            </a:xfrm>
            <a:custGeom>
              <a:avLst/>
              <a:gdLst/>
              <a:ahLst/>
              <a:cxnLst/>
              <a:rect r="r" b="b" t="t" l="l"/>
              <a:pathLst>
                <a:path h="10982325" w="11430000">
                  <a:moveTo>
                    <a:pt x="0" y="0"/>
                  </a:moveTo>
                  <a:lnTo>
                    <a:pt x="0" y="10982325"/>
                  </a:lnTo>
                  <a:lnTo>
                    <a:pt x="11430000" y="10982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10982325"/>
            </a:xfrm>
            <a:custGeom>
              <a:avLst/>
              <a:gdLst/>
              <a:ahLst/>
              <a:cxnLst/>
              <a:rect r="r" b="b" t="t" l="l"/>
              <a:pathLst>
                <a:path h="10982325" w="11430000">
                  <a:moveTo>
                    <a:pt x="0" y="0"/>
                  </a:moveTo>
                  <a:lnTo>
                    <a:pt x="0" y="10982325"/>
                  </a:lnTo>
                  <a:lnTo>
                    <a:pt x="11430000" y="10982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10982325"/>
            </a:xfrm>
            <a:custGeom>
              <a:avLst/>
              <a:gdLst/>
              <a:ahLst/>
              <a:cxnLst/>
              <a:rect r="r" b="b" t="t" l="l"/>
              <a:pathLst>
                <a:path h="10982325" w="11430000">
                  <a:moveTo>
                    <a:pt x="0" y="0"/>
                  </a:moveTo>
                  <a:lnTo>
                    <a:pt x="0" y="10982325"/>
                  </a:lnTo>
                  <a:lnTo>
                    <a:pt x="11430000" y="10982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C0A3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2150" y="2120900"/>
              <a:ext cx="990600" cy="295275"/>
            </a:xfrm>
            <a:custGeom>
              <a:avLst/>
              <a:gdLst/>
              <a:ahLst/>
              <a:cxnLst/>
              <a:rect r="r" b="b" t="t" l="l"/>
              <a:pathLst>
                <a:path h="295275" w="990600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287"/>
                    <a:pt x="7874" y="7874"/>
                  </a:cubicBezTo>
                  <a:cubicBezTo>
                    <a:pt x="10414" y="5461"/>
                    <a:pt x="13335" y="3429"/>
                    <a:pt x="16510" y="2032"/>
                  </a:cubicBezTo>
                  <a:cubicBezTo>
                    <a:pt x="19685" y="635"/>
                    <a:pt x="23241" y="0"/>
                    <a:pt x="26797" y="0"/>
                  </a:cubicBezTo>
                  <a:lnTo>
                    <a:pt x="963803" y="0"/>
                  </a:lnTo>
                  <a:cubicBezTo>
                    <a:pt x="967359" y="0"/>
                    <a:pt x="970788" y="635"/>
                    <a:pt x="974090" y="2032"/>
                  </a:cubicBezTo>
                  <a:cubicBezTo>
                    <a:pt x="977392" y="3429"/>
                    <a:pt x="980313" y="5334"/>
                    <a:pt x="982726" y="7874"/>
                  </a:cubicBezTo>
                  <a:cubicBezTo>
                    <a:pt x="985139" y="10414"/>
                    <a:pt x="987171" y="13335"/>
                    <a:pt x="988568" y="16510"/>
                  </a:cubicBezTo>
                  <a:cubicBezTo>
                    <a:pt x="989965" y="19685"/>
                    <a:pt x="990600" y="23241"/>
                    <a:pt x="990600" y="26797"/>
                  </a:cubicBezTo>
                  <a:lnTo>
                    <a:pt x="990600" y="268478"/>
                  </a:lnTo>
                  <a:cubicBezTo>
                    <a:pt x="990600" y="272034"/>
                    <a:pt x="989965" y="275463"/>
                    <a:pt x="988568" y="278765"/>
                  </a:cubicBezTo>
                  <a:cubicBezTo>
                    <a:pt x="987171" y="282067"/>
                    <a:pt x="985266" y="284988"/>
                    <a:pt x="982726" y="287401"/>
                  </a:cubicBezTo>
                  <a:cubicBezTo>
                    <a:pt x="980186" y="289814"/>
                    <a:pt x="977265" y="291846"/>
                    <a:pt x="974090" y="293243"/>
                  </a:cubicBezTo>
                  <a:cubicBezTo>
                    <a:pt x="970915" y="294640"/>
                    <a:pt x="967359" y="295275"/>
                    <a:pt x="963803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6"/>
                    <a:pt x="10287" y="289941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92150" y="3635375"/>
              <a:ext cx="2105025" cy="295275"/>
            </a:xfrm>
            <a:custGeom>
              <a:avLst/>
              <a:gdLst/>
              <a:ahLst/>
              <a:cxnLst/>
              <a:rect r="r" b="b" t="t" l="l"/>
              <a:pathLst>
                <a:path h="295275" w="2105025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287"/>
                    <a:pt x="7874" y="7874"/>
                  </a:cubicBezTo>
                  <a:cubicBezTo>
                    <a:pt x="10414" y="5461"/>
                    <a:pt x="13335" y="3429"/>
                    <a:pt x="16510" y="2032"/>
                  </a:cubicBezTo>
                  <a:cubicBezTo>
                    <a:pt x="19685" y="635"/>
                    <a:pt x="23241" y="0"/>
                    <a:pt x="26797" y="0"/>
                  </a:cubicBezTo>
                  <a:lnTo>
                    <a:pt x="2078228" y="0"/>
                  </a:lnTo>
                  <a:cubicBezTo>
                    <a:pt x="2081784" y="0"/>
                    <a:pt x="2085213" y="635"/>
                    <a:pt x="2088515" y="2032"/>
                  </a:cubicBezTo>
                  <a:cubicBezTo>
                    <a:pt x="2091817" y="3429"/>
                    <a:pt x="2094738" y="5334"/>
                    <a:pt x="2097151" y="7874"/>
                  </a:cubicBezTo>
                  <a:cubicBezTo>
                    <a:pt x="2099564" y="10414"/>
                    <a:pt x="2101596" y="13335"/>
                    <a:pt x="2102993" y="16510"/>
                  </a:cubicBezTo>
                  <a:cubicBezTo>
                    <a:pt x="2104390" y="19685"/>
                    <a:pt x="2105025" y="23241"/>
                    <a:pt x="2105025" y="26797"/>
                  </a:cubicBezTo>
                  <a:lnTo>
                    <a:pt x="2105025" y="268478"/>
                  </a:lnTo>
                  <a:cubicBezTo>
                    <a:pt x="2105025" y="272034"/>
                    <a:pt x="2104390" y="275463"/>
                    <a:pt x="2102993" y="278765"/>
                  </a:cubicBezTo>
                  <a:cubicBezTo>
                    <a:pt x="2101596" y="282067"/>
                    <a:pt x="2099691" y="284988"/>
                    <a:pt x="2097151" y="287401"/>
                  </a:cubicBezTo>
                  <a:cubicBezTo>
                    <a:pt x="2094611" y="289814"/>
                    <a:pt x="2091690" y="291846"/>
                    <a:pt x="2088515" y="293243"/>
                  </a:cubicBezTo>
                  <a:cubicBezTo>
                    <a:pt x="2085340" y="294639"/>
                    <a:pt x="2081784" y="295275"/>
                    <a:pt x="2078228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5"/>
                    <a:pt x="10287" y="289940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38175" y="5134022"/>
            <a:ext cx="4857750" cy="4857750"/>
            <a:chOff x="0" y="0"/>
            <a:chExt cx="6477000" cy="64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6477000">
                  <a:moveTo>
                    <a:pt x="30226" y="0"/>
                  </a:moveTo>
                  <a:cubicBezTo>
                    <a:pt x="21844" y="0"/>
                    <a:pt x="14732" y="3048"/>
                    <a:pt x="8890" y="8890"/>
                  </a:cubicBezTo>
                  <a:cubicBezTo>
                    <a:pt x="3048" y="14732"/>
                    <a:pt x="0" y="21971"/>
                    <a:pt x="0" y="30353"/>
                  </a:cubicBezTo>
                  <a:lnTo>
                    <a:pt x="0" y="6446647"/>
                  </a:lnTo>
                  <a:cubicBezTo>
                    <a:pt x="0" y="6455029"/>
                    <a:pt x="2921" y="6462141"/>
                    <a:pt x="8890" y="6468110"/>
                  </a:cubicBezTo>
                  <a:cubicBezTo>
                    <a:pt x="14859" y="6474079"/>
                    <a:pt x="21971" y="6477000"/>
                    <a:pt x="30353" y="6477000"/>
                  </a:cubicBezTo>
                  <a:lnTo>
                    <a:pt x="6446647" y="6477000"/>
                  </a:lnTo>
                  <a:cubicBezTo>
                    <a:pt x="6455029" y="6477000"/>
                    <a:pt x="6462141" y="6474079"/>
                    <a:pt x="6468110" y="6468110"/>
                  </a:cubicBezTo>
                  <a:cubicBezTo>
                    <a:pt x="6474079" y="6462141"/>
                    <a:pt x="6477000" y="6455029"/>
                    <a:pt x="6477000" y="6446647"/>
                  </a:cubicBezTo>
                  <a:lnTo>
                    <a:pt x="6477000" y="30353"/>
                  </a:lnTo>
                  <a:cubicBezTo>
                    <a:pt x="6477000" y="21971"/>
                    <a:pt x="6474079" y="14859"/>
                    <a:pt x="6468110" y="8890"/>
                  </a:cubicBezTo>
                  <a:cubicBezTo>
                    <a:pt x="6462141" y="2921"/>
                    <a:pt x="6455156" y="0"/>
                    <a:pt x="64467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934075" y="2057447"/>
            <a:ext cx="1009650" cy="295275"/>
            <a:chOff x="0" y="0"/>
            <a:chExt cx="1009650" cy="295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9650" cy="295275"/>
            </a:xfrm>
            <a:custGeom>
              <a:avLst/>
              <a:gdLst/>
              <a:ahLst/>
              <a:cxnLst/>
              <a:rect r="r" b="b" t="t" l="l"/>
              <a:pathLst>
                <a:path h="295275" w="1009650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414"/>
                    <a:pt x="7874" y="7874"/>
                  </a:cubicBezTo>
                  <a:cubicBezTo>
                    <a:pt x="10414" y="5334"/>
                    <a:pt x="13208" y="3429"/>
                    <a:pt x="16510" y="2032"/>
                  </a:cubicBezTo>
                  <a:cubicBezTo>
                    <a:pt x="19812" y="635"/>
                    <a:pt x="23241" y="0"/>
                    <a:pt x="26797" y="0"/>
                  </a:cubicBezTo>
                  <a:lnTo>
                    <a:pt x="982853" y="0"/>
                  </a:lnTo>
                  <a:cubicBezTo>
                    <a:pt x="986409" y="0"/>
                    <a:pt x="989838" y="635"/>
                    <a:pt x="993140" y="2032"/>
                  </a:cubicBezTo>
                  <a:cubicBezTo>
                    <a:pt x="996442" y="3429"/>
                    <a:pt x="999363" y="5334"/>
                    <a:pt x="1001776" y="7874"/>
                  </a:cubicBezTo>
                  <a:cubicBezTo>
                    <a:pt x="1004189" y="10414"/>
                    <a:pt x="1006221" y="13335"/>
                    <a:pt x="1007618" y="16510"/>
                  </a:cubicBezTo>
                  <a:cubicBezTo>
                    <a:pt x="1009015" y="19685"/>
                    <a:pt x="1009650" y="23241"/>
                    <a:pt x="1009650" y="26797"/>
                  </a:cubicBezTo>
                  <a:lnTo>
                    <a:pt x="1009650" y="268478"/>
                  </a:lnTo>
                  <a:cubicBezTo>
                    <a:pt x="1009650" y="272034"/>
                    <a:pt x="1009015" y="275463"/>
                    <a:pt x="1007618" y="278765"/>
                  </a:cubicBezTo>
                  <a:cubicBezTo>
                    <a:pt x="1006221" y="282067"/>
                    <a:pt x="1004316" y="284988"/>
                    <a:pt x="1001776" y="287401"/>
                  </a:cubicBezTo>
                  <a:cubicBezTo>
                    <a:pt x="999236" y="289814"/>
                    <a:pt x="996315" y="291846"/>
                    <a:pt x="993140" y="293243"/>
                  </a:cubicBezTo>
                  <a:cubicBezTo>
                    <a:pt x="989965" y="294640"/>
                    <a:pt x="986409" y="295275"/>
                    <a:pt x="982853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6"/>
                    <a:pt x="10287" y="289941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934075" y="3867197"/>
            <a:ext cx="866775" cy="295275"/>
            <a:chOff x="0" y="0"/>
            <a:chExt cx="866775" cy="295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6775" cy="295275"/>
            </a:xfrm>
            <a:custGeom>
              <a:avLst/>
              <a:gdLst/>
              <a:ahLst/>
              <a:cxnLst/>
              <a:rect r="r" b="b" t="t" l="l"/>
              <a:pathLst>
                <a:path h="295275" w="866775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414"/>
                    <a:pt x="7874" y="7874"/>
                  </a:cubicBezTo>
                  <a:cubicBezTo>
                    <a:pt x="10414" y="5334"/>
                    <a:pt x="13208" y="3429"/>
                    <a:pt x="16510" y="2032"/>
                  </a:cubicBezTo>
                  <a:cubicBezTo>
                    <a:pt x="19812" y="635"/>
                    <a:pt x="23241" y="0"/>
                    <a:pt x="26797" y="0"/>
                  </a:cubicBezTo>
                  <a:lnTo>
                    <a:pt x="839978" y="0"/>
                  </a:lnTo>
                  <a:cubicBezTo>
                    <a:pt x="843534" y="0"/>
                    <a:pt x="846963" y="635"/>
                    <a:pt x="850265" y="2032"/>
                  </a:cubicBezTo>
                  <a:cubicBezTo>
                    <a:pt x="853567" y="3429"/>
                    <a:pt x="856488" y="5334"/>
                    <a:pt x="858901" y="7874"/>
                  </a:cubicBezTo>
                  <a:cubicBezTo>
                    <a:pt x="861314" y="10414"/>
                    <a:pt x="863346" y="13335"/>
                    <a:pt x="864743" y="16510"/>
                  </a:cubicBezTo>
                  <a:cubicBezTo>
                    <a:pt x="866140" y="19685"/>
                    <a:pt x="866775" y="23241"/>
                    <a:pt x="866775" y="26797"/>
                  </a:cubicBezTo>
                  <a:lnTo>
                    <a:pt x="866775" y="268478"/>
                  </a:lnTo>
                  <a:cubicBezTo>
                    <a:pt x="866775" y="272034"/>
                    <a:pt x="866140" y="275463"/>
                    <a:pt x="864743" y="278765"/>
                  </a:cubicBezTo>
                  <a:cubicBezTo>
                    <a:pt x="863346" y="282067"/>
                    <a:pt x="861441" y="284988"/>
                    <a:pt x="858901" y="287401"/>
                  </a:cubicBezTo>
                  <a:cubicBezTo>
                    <a:pt x="856361" y="289814"/>
                    <a:pt x="853440" y="291846"/>
                    <a:pt x="850265" y="293243"/>
                  </a:cubicBezTo>
                  <a:cubicBezTo>
                    <a:pt x="847090" y="294640"/>
                    <a:pt x="843534" y="295275"/>
                    <a:pt x="839978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6"/>
                    <a:pt x="10287" y="289941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943600" y="5429297"/>
            <a:ext cx="4857750" cy="4848225"/>
            <a:chOff x="0" y="0"/>
            <a:chExt cx="6477000" cy="6464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0" cy="6464300"/>
            </a:xfrm>
            <a:custGeom>
              <a:avLst/>
              <a:gdLst/>
              <a:ahLst/>
              <a:cxnLst/>
              <a:rect r="r" b="b" t="t" l="l"/>
              <a:pathLst>
                <a:path h="6464300" w="6477000">
                  <a:moveTo>
                    <a:pt x="30226" y="0"/>
                  </a:moveTo>
                  <a:cubicBezTo>
                    <a:pt x="21844" y="0"/>
                    <a:pt x="14732" y="3048"/>
                    <a:pt x="8890" y="8890"/>
                  </a:cubicBezTo>
                  <a:cubicBezTo>
                    <a:pt x="3048" y="14732"/>
                    <a:pt x="0" y="21971"/>
                    <a:pt x="0" y="30353"/>
                  </a:cubicBezTo>
                  <a:lnTo>
                    <a:pt x="0" y="6433947"/>
                  </a:lnTo>
                  <a:cubicBezTo>
                    <a:pt x="0" y="6442329"/>
                    <a:pt x="2921" y="6449441"/>
                    <a:pt x="8890" y="6455410"/>
                  </a:cubicBezTo>
                  <a:cubicBezTo>
                    <a:pt x="14859" y="6461379"/>
                    <a:pt x="21971" y="6464300"/>
                    <a:pt x="30353" y="6464300"/>
                  </a:cubicBezTo>
                  <a:lnTo>
                    <a:pt x="6446647" y="6464300"/>
                  </a:lnTo>
                  <a:cubicBezTo>
                    <a:pt x="6455029" y="6464300"/>
                    <a:pt x="6462141" y="6461379"/>
                    <a:pt x="6468110" y="6455410"/>
                  </a:cubicBezTo>
                  <a:cubicBezTo>
                    <a:pt x="6474079" y="6449441"/>
                    <a:pt x="6477000" y="6442329"/>
                    <a:pt x="6477000" y="6433947"/>
                  </a:cubicBezTo>
                  <a:lnTo>
                    <a:pt x="6477000" y="30353"/>
                  </a:lnTo>
                  <a:cubicBezTo>
                    <a:pt x="6477000" y="21971"/>
                    <a:pt x="6474079" y="14859"/>
                    <a:pt x="6468110" y="8890"/>
                  </a:cubicBezTo>
                  <a:cubicBezTo>
                    <a:pt x="6462141" y="2921"/>
                    <a:pt x="6455156" y="0"/>
                    <a:pt x="644677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37575" y="739711"/>
            <a:ext cx="101508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Components: Project Code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003" y="1271472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575" y="2528772"/>
            <a:ext cx="4870075" cy="238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Central hub for all system parameters, from file paths to model hyperparameters and vocabulary size. This ensures consistent settings across all modules.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extract_features.py</a:t>
            </a:r>
          </a:p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Utilizes pre-trained Convolutional Neural Networks (CNNs) like VGG16 or ResNet to extract essential visual features from images, then stores them for training efficiency.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575" y="1414347"/>
            <a:ext cx="8596360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Our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system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built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upon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modular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codebase,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ensuring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clarity,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maintainability,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efficient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development.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46724" y="2528772"/>
            <a:ext cx="4964344" cy="268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Defines the complete Encoder-Decoder architecture, integrating a CNN encoder with an LSTM decoder, enhanced by an attention mechanism for improved caption </a:t>
            </a:r>
          </a:p>
          <a:p>
            <a:pPr algn="l">
              <a:lnSpc>
                <a:spcPts val="2099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generation.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train.py</a:t>
            </a:r>
          </a:p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Manages the entire training pipeline, including data loading, iterating through epochs, calculating loss, and saving model checkpoints for future use.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575" y="2041626"/>
            <a:ext cx="991124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config.py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6724" y="2041626"/>
            <a:ext cx="1009269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model.py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2051047"/>
            <a:ext cx="11556997" cy="6880222"/>
            <a:chOff x="0" y="0"/>
            <a:chExt cx="11557000" cy="68802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2114550"/>
            <a:ext cx="11430000" cy="2276475"/>
          </a:xfrm>
          <a:custGeom>
            <a:avLst/>
            <a:gdLst/>
            <a:ahLst/>
            <a:cxnLst/>
            <a:rect r="r" b="b" t="t" l="l"/>
            <a:pathLst>
              <a:path h="2276475" w="11430000">
                <a:moveTo>
                  <a:pt x="0" y="0"/>
                </a:moveTo>
                <a:lnTo>
                  <a:pt x="11430000" y="0"/>
                </a:lnTo>
                <a:lnTo>
                  <a:pt x="11430000" y="2276475"/>
                </a:lnTo>
                <a:lnTo>
                  <a:pt x="0" y="2276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5" r="0" b="-405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38175" y="6200775"/>
            <a:ext cx="4981575" cy="542925"/>
            <a:chOff x="0" y="0"/>
            <a:chExt cx="4981575" cy="542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81829" cy="543052"/>
            </a:xfrm>
            <a:custGeom>
              <a:avLst/>
              <a:gdLst/>
              <a:ahLst/>
              <a:cxnLst/>
              <a:rect r="r" b="b" t="t" l="l"/>
              <a:pathLst>
                <a:path h="543052" w="4981829">
                  <a:moveTo>
                    <a:pt x="0" y="271526"/>
                  </a:moveTo>
                  <a:cubicBezTo>
                    <a:pt x="0" y="262636"/>
                    <a:pt x="381" y="253746"/>
                    <a:pt x="1270" y="244856"/>
                  </a:cubicBezTo>
                  <a:cubicBezTo>
                    <a:pt x="2159" y="235966"/>
                    <a:pt x="3429" y="227203"/>
                    <a:pt x="5207" y="218567"/>
                  </a:cubicBezTo>
                  <a:cubicBezTo>
                    <a:pt x="6985" y="209931"/>
                    <a:pt x="9144" y="201168"/>
                    <a:pt x="11684" y="192659"/>
                  </a:cubicBezTo>
                  <a:cubicBezTo>
                    <a:pt x="14224" y="184150"/>
                    <a:pt x="17272" y="175768"/>
                    <a:pt x="20701" y="167640"/>
                  </a:cubicBezTo>
                  <a:cubicBezTo>
                    <a:pt x="24130" y="159512"/>
                    <a:pt x="27940" y="151384"/>
                    <a:pt x="32131" y="143510"/>
                  </a:cubicBezTo>
                  <a:cubicBezTo>
                    <a:pt x="36322" y="135636"/>
                    <a:pt x="40894" y="128016"/>
                    <a:pt x="45847" y="120650"/>
                  </a:cubicBezTo>
                  <a:cubicBezTo>
                    <a:pt x="50800" y="113284"/>
                    <a:pt x="56134" y="106172"/>
                    <a:pt x="61722" y="99314"/>
                  </a:cubicBezTo>
                  <a:cubicBezTo>
                    <a:pt x="67310" y="92456"/>
                    <a:pt x="73279" y="85852"/>
                    <a:pt x="79629" y="79629"/>
                  </a:cubicBezTo>
                  <a:cubicBezTo>
                    <a:pt x="85979" y="73406"/>
                    <a:pt x="92329" y="67310"/>
                    <a:pt x="99187" y="61595"/>
                  </a:cubicBezTo>
                  <a:cubicBezTo>
                    <a:pt x="106045" y="55880"/>
                    <a:pt x="113284" y="50673"/>
                    <a:pt x="120650" y="45720"/>
                  </a:cubicBezTo>
                  <a:cubicBezTo>
                    <a:pt x="128016" y="40767"/>
                    <a:pt x="135636" y="36195"/>
                    <a:pt x="143510" y="32004"/>
                  </a:cubicBezTo>
                  <a:cubicBezTo>
                    <a:pt x="151384" y="27813"/>
                    <a:pt x="159385" y="24003"/>
                    <a:pt x="167640" y="20574"/>
                  </a:cubicBezTo>
                  <a:cubicBezTo>
                    <a:pt x="175895" y="17145"/>
                    <a:pt x="184277" y="14224"/>
                    <a:pt x="192786" y="11557"/>
                  </a:cubicBezTo>
                  <a:cubicBezTo>
                    <a:pt x="201295" y="8890"/>
                    <a:pt x="209804" y="6985"/>
                    <a:pt x="218567" y="5207"/>
                  </a:cubicBezTo>
                  <a:cubicBezTo>
                    <a:pt x="227330" y="3429"/>
                    <a:pt x="235966" y="2159"/>
                    <a:pt x="244856" y="1270"/>
                  </a:cubicBezTo>
                  <a:cubicBezTo>
                    <a:pt x="253746" y="381"/>
                    <a:pt x="262636" y="0"/>
                    <a:pt x="271526" y="0"/>
                  </a:cubicBezTo>
                  <a:lnTo>
                    <a:pt x="4710176" y="0"/>
                  </a:lnTo>
                  <a:cubicBezTo>
                    <a:pt x="4719066" y="0"/>
                    <a:pt x="4727956" y="381"/>
                    <a:pt x="4736846" y="1270"/>
                  </a:cubicBezTo>
                  <a:cubicBezTo>
                    <a:pt x="4745736" y="2159"/>
                    <a:pt x="4754499" y="3429"/>
                    <a:pt x="4763135" y="5207"/>
                  </a:cubicBezTo>
                  <a:cubicBezTo>
                    <a:pt x="4771771" y="6985"/>
                    <a:pt x="4780407" y="9144"/>
                    <a:pt x="4788916" y="11684"/>
                  </a:cubicBezTo>
                  <a:cubicBezTo>
                    <a:pt x="4797425" y="14224"/>
                    <a:pt x="4805807" y="17272"/>
                    <a:pt x="4814062" y="20701"/>
                  </a:cubicBezTo>
                  <a:cubicBezTo>
                    <a:pt x="4822318" y="24130"/>
                    <a:pt x="4830318" y="27940"/>
                    <a:pt x="4838192" y="32131"/>
                  </a:cubicBezTo>
                  <a:cubicBezTo>
                    <a:pt x="4846066" y="36322"/>
                    <a:pt x="4853686" y="40894"/>
                    <a:pt x="4861052" y="45847"/>
                  </a:cubicBezTo>
                  <a:cubicBezTo>
                    <a:pt x="4868418" y="50800"/>
                    <a:pt x="4875530" y="56134"/>
                    <a:pt x="4882515" y="61722"/>
                  </a:cubicBezTo>
                  <a:cubicBezTo>
                    <a:pt x="4889500" y="67310"/>
                    <a:pt x="4895977" y="73279"/>
                    <a:pt x="4902200" y="79629"/>
                  </a:cubicBezTo>
                  <a:cubicBezTo>
                    <a:pt x="4908423" y="85979"/>
                    <a:pt x="4914392" y="92456"/>
                    <a:pt x="4920107" y="99314"/>
                  </a:cubicBezTo>
                  <a:cubicBezTo>
                    <a:pt x="4925822" y="106172"/>
                    <a:pt x="4931029" y="113284"/>
                    <a:pt x="4935982" y="120650"/>
                  </a:cubicBezTo>
                  <a:cubicBezTo>
                    <a:pt x="4940935" y="128016"/>
                    <a:pt x="4945507" y="135636"/>
                    <a:pt x="4949698" y="143510"/>
                  </a:cubicBezTo>
                  <a:cubicBezTo>
                    <a:pt x="4953889" y="151384"/>
                    <a:pt x="4957699" y="159385"/>
                    <a:pt x="4961128" y="167640"/>
                  </a:cubicBezTo>
                  <a:cubicBezTo>
                    <a:pt x="4964557" y="175895"/>
                    <a:pt x="4967478" y="184150"/>
                    <a:pt x="4970145" y="192659"/>
                  </a:cubicBezTo>
                  <a:cubicBezTo>
                    <a:pt x="4972812" y="201168"/>
                    <a:pt x="4974844" y="209804"/>
                    <a:pt x="4976622" y="218567"/>
                  </a:cubicBezTo>
                  <a:cubicBezTo>
                    <a:pt x="4978400" y="227330"/>
                    <a:pt x="4979670" y="236093"/>
                    <a:pt x="4980559" y="244856"/>
                  </a:cubicBezTo>
                  <a:cubicBezTo>
                    <a:pt x="4981448" y="253619"/>
                    <a:pt x="4981829" y="262509"/>
                    <a:pt x="4981829" y="271526"/>
                  </a:cubicBezTo>
                  <a:cubicBezTo>
                    <a:pt x="4981829" y="280543"/>
                    <a:pt x="4981448" y="289306"/>
                    <a:pt x="4980559" y="298196"/>
                  </a:cubicBezTo>
                  <a:cubicBezTo>
                    <a:pt x="4979670" y="307086"/>
                    <a:pt x="4978400" y="315849"/>
                    <a:pt x="4976622" y="324485"/>
                  </a:cubicBezTo>
                  <a:cubicBezTo>
                    <a:pt x="4974844" y="333121"/>
                    <a:pt x="4972685" y="341884"/>
                    <a:pt x="4970145" y="350393"/>
                  </a:cubicBezTo>
                  <a:cubicBezTo>
                    <a:pt x="4967605" y="358902"/>
                    <a:pt x="4964557" y="367284"/>
                    <a:pt x="4961128" y="375412"/>
                  </a:cubicBezTo>
                  <a:cubicBezTo>
                    <a:pt x="4957699" y="383540"/>
                    <a:pt x="4953889" y="391668"/>
                    <a:pt x="4949698" y="399542"/>
                  </a:cubicBezTo>
                  <a:cubicBezTo>
                    <a:pt x="4945507" y="407416"/>
                    <a:pt x="4940935" y="415036"/>
                    <a:pt x="4935982" y="422402"/>
                  </a:cubicBezTo>
                  <a:cubicBezTo>
                    <a:pt x="4931029" y="429768"/>
                    <a:pt x="4925695" y="436880"/>
                    <a:pt x="4920107" y="443738"/>
                  </a:cubicBezTo>
                  <a:cubicBezTo>
                    <a:pt x="4914519" y="450596"/>
                    <a:pt x="4908550" y="457200"/>
                    <a:pt x="4902200" y="463423"/>
                  </a:cubicBezTo>
                  <a:cubicBezTo>
                    <a:pt x="4895850" y="469646"/>
                    <a:pt x="4889373" y="475615"/>
                    <a:pt x="4882515" y="481330"/>
                  </a:cubicBezTo>
                  <a:cubicBezTo>
                    <a:pt x="4875657" y="487045"/>
                    <a:pt x="4868545" y="492252"/>
                    <a:pt x="4861052" y="497205"/>
                  </a:cubicBezTo>
                  <a:cubicBezTo>
                    <a:pt x="4853559" y="502158"/>
                    <a:pt x="4846066" y="506730"/>
                    <a:pt x="4838192" y="510921"/>
                  </a:cubicBezTo>
                  <a:cubicBezTo>
                    <a:pt x="4830318" y="515112"/>
                    <a:pt x="4822317" y="518922"/>
                    <a:pt x="4814062" y="522351"/>
                  </a:cubicBezTo>
                  <a:cubicBezTo>
                    <a:pt x="4805807" y="525780"/>
                    <a:pt x="4797553" y="528701"/>
                    <a:pt x="4788916" y="531368"/>
                  </a:cubicBezTo>
                  <a:cubicBezTo>
                    <a:pt x="4780280" y="534035"/>
                    <a:pt x="4771771" y="536067"/>
                    <a:pt x="4763135" y="537845"/>
                  </a:cubicBezTo>
                  <a:cubicBezTo>
                    <a:pt x="4754499" y="539623"/>
                    <a:pt x="4745609" y="540893"/>
                    <a:pt x="4736846" y="541782"/>
                  </a:cubicBezTo>
                  <a:cubicBezTo>
                    <a:pt x="4728083" y="542671"/>
                    <a:pt x="4719066" y="543052"/>
                    <a:pt x="4710176" y="543052"/>
                  </a:cubicBezTo>
                  <a:lnTo>
                    <a:pt x="271526" y="543052"/>
                  </a:lnTo>
                  <a:cubicBezTo>
                    <a:pt x="262636" y="543052"/>
                    <a:pt x="253746" y="542671"/>
                    <a:pt x="244983" y="541782"/>
                  </a:cubicBezTo>
                  <a:cubicBezTo>
                    <a:pt x="236220" y="540893"/>
                    <a:pt x="227330" y="539623"/>
                    <a:pt x="218567" y="537845"/>
                  </a:cubicBezTo>
                  <a:cubicBezTo>
                    <a:pt x="209804" y="536067"/>
                    <a:pt x="201295" y="533908"/>
                    <a:pt x="192786" y="531368"/>
                  </a:cubicBezTo>
                  <a:cubicBezTo>
                    <a:pt x="184277" y="528828"/>
                    <a:pt x="175895" y="525780"/>
                    <a:pt x="167640" y="522351"/>
                  </a:cubicBezTo>
                  <a:cubicBezTo>
                    <a:pt x="159385" y="518922"/>
                    <a:pt x="151384" y="515112"/>
                    <a:pt x="143510" y="510921"/>
                  </a:cubicBezTo>
                  <a:cubicBezTo>
                    <a:pt x="135636" y="506730"/>
                    <a:pt x="128016" y="502158"/>
                    <a:pt x="120650" y="497205"/>
                  </a:cubicBezTo>
                  <a:cubicBezTo>
                    <a:pt x="113284" y="492252"/>
                    <a:pt x="106172" y="486918"/>
                    <a:pt x="99314" y="481330"/>
                  </a:cubicBezTo>
                  <a:cubicBezTo>
                    <a:pt x="92456" y="475742"/>
                    <a:pt x="85852" y="469773"/>
                    <a:pt x="79629" y="463423"/>
                  </a:cubicBezTo>
                  <a:cubicBezTo>
                    <a:pt x="73406" y="457073"/>
                    <a:pt x="67437" y="450596"/>
                    <a:pt x="61722" y="443738"/>
                  </a:cubicBezTo>
                  <a:cubicBezTo>
                    <a:pt x="56007" y="436880"/>
                    <a:pt x="50800" y="429768"/>
                    <a:pt x="45847" y="422402"/>
                  </a:cubicBezTo>
                  <a:cubicBezTo>
                    <a:pt x="40894" y="415036"/>
                    <a:pt x="36322" y="407416"/>
                    <a:pt x="32131" y="399542"/>
                  </a:cubicBezTo>
                  <a:cubicBezTo>
                    <a:pt x="27940" y="391668"/>
                    <a:pt x="24130" y="383667"/>
                    <a:pt x="20701" y="375412"/>
                  </a:cubicBezTo>
                  <a:cubicBezTo>
                    <a:pt x="17272" y="367157"/>
                    <a:pt x="14351" y="358902"/>
                    <a:pt x="11684" y="350393"/>
                  </a:cubicBezTo>
                  <a:cubicBezTo>
                    <a:pt x="9017" y="341884"/>
                    <a:pt x="6985" y="333248"/>
                    <a:pt x="5207" y="324485"/>
                  </a:cubicBezTo>
                  <a:cubicBezTo>
                    <a:pt x="3429" y="315722"/>
                    <a:pt x="2159" y="306959"/>
                    <a:pt x="1270" y="298069"/>
                  </a:cubicBezTo>
                  <a:cubicBezTo>
                    <a:pt x="381" y="289179"/>
                    <a:pt x="0" y="280289"/>
                    <a:pt x="0" y="271399"/>
                  </a:cubicBezTo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09625" y="6905625"/>
            <a:ext cx="762000" cy="295275"/>
            <a:chOff x="0" y="0"/>
            <a:chExt cx="762000" cy="2952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295275"/>
            </a:xfrm>
            <a:custGeom>
              <a:avLst/>
              <a:gdLst/>
              <a:ahLst/>
              <a:cxnLst/>
              <a:rect r="r" b="b" t="t" l="l"/>
              <a:pathLst>
                <a:path h="295275" w="762000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414"/>
                    <a:pt x="7874" y="7874"/>
                  </a:cubicBezTo>
                  <a:cubicBezTo>
                    <a:pt x="10414" y="5334"/>
                    <a:pt x="13208" y="3429"/>
                    <a:pt x="16510" y="2032"/>
                  </a:cubicBezTo>
                  <a:cubicBezTo>
                    <a:pt x="19812" y="635"/>
                    <a:pt x="23241" y="0"/>
                    <a:pt x="26797" y="0"/>
                  </a:cubicBezTo>
                  <a:lnTo>
                    <a:pt x="735203" y="0"/>
                  </a:lnTo>
                  <a:cubicBezTo>
                    <a:pt x="738759" y="0"/>
                    <a:pt x="742188" y="635"/>
                    <a:pt x="745490" y="2032"/>
                  </a:cubicBezTo>
                  <a:cubicBezTo>
                    <a:pt x="748792" y="3429"/>
                    <a:pt x="751713" y="5334"/>
                    <a:pt x="754126" y="7874"/>
                  </a:cubicBezTo>
                  <a:cubicBezTo>
                    <a:pt x="756539" y="10414"/>
                    <a:pt x="758571" y="13335"/>
                    <a:pt x="759968" y="16510"/>
                  </a:cubicBezTo>
                  <a:cubicBezTo>
                    <a:pt x="761365" y="19685"/>
                    <a:pt x="762000" y="23241"/>
                    <a:pt x="762000" y="26797"/>
                  </a:cubicBezTo>
                  <a:lnTo>
                    <a:pt x="762000" y="268478"/>
                  </a:lnTo>
                  <a:cubicBezTo>
                    <a:pt x="762000" y="272034"/>
                    <a:pt x="761365" y="275463"/>
                    <a:pt x="759968" y="278765"/>
                  </a:cubicBezTo>
                  <a:cubicBezTo>
                    <a:pt x="758571" y="282067"/>
                    <a:pt x="756666" y="284988"/>
                    <a:pt x="754126" y="287401"/>
                  </a:cubicBezTo>
                  <a:cubicBezTo>
                    <a:pt x="751586" y="289814"/>
                    <a:pt x="748665" y="291846"/>
                    <a:pt x="745490" y="293243"/>
                  </a:cubicBezTo>
                  <a:cubicBezTo>
                    <a:pt x="742315" y="294640"/>
                    <a:pt x="738759" y="295275"/>
                    <a:pt x="735203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6"/>
                    <a:pt x="10287" y="289941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810250" y="6200775"/>
            <a:ext cx="4981575" cy="542925"/>
            <a:chOff x="0" y="0"/>
            <a:chExt cx="4981575" cy="542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81701" cy="543052"/>
            </a:xfrm>
            <a:custGeom>
              <a:avLst/>
              <a:gdLst/>
              <a:ahLst/>
              <a:cxnLst/>
              <a:rect r="r" b="b" t="t" l="l"/>
              <a:pathLst>
                <a:path h="543052" w="4981701">
                  <a:moveTo>
                    <a:pt x="0" y="271526"/>
                  </a:moveTo>
                  <a:cubicBezTo>
                    <a:pt x="0" y="262636"/>
                    <a:pt x="381" y="253746"/>
                    <a:pt x="1270" y="244856"/>
                  </a:cubicBezTo>
                  <a:cubicBezTo>
                    <a:pt x="2159" y="235966"/>
                    <a:pt x="3429" y="227203"/>
                    <a:pt x="5207" y="218567"/>
                  </a:cubicBezTo>
                  <a:cubicBezTo>
                    <a:pt x="6985" y="209931"/>
                    <a:pt x="9144" y="201168"/>
                    <a:pt x="11684" y="192659"/>
                  </a:cubicBezTo>
                  <a:cubicBezTo>
                    <a:pt x="14224" y="184150"/>
                    <a:pt x="17272" y="175768"/>
                    <a:pt x="20701" y="167640"/>
                  </a:cubicBezTo>
                  <a:cubicBezTo>
                    <a:pt x="24130" y="159512"/>
                    <a:pt x="27940" y="151384"/>
                    <a:pt x="32131" y="143510"/>
                  </a:cubicBezTo>
                  <a:cubicBezTo>
                    <a:pt x="36322" y="135636"/>
                    <a:pt x="40894" y="128016"/>
                    <a:pt x="45847" y="120650"/>
                  </a:cubicBezTo>
                  <a:cubicBezTo>
                    <a:pt x="50800" y="113284"/>
                    <a:pt x="56134" y="106172"/>
                    <a:pt x="61722" y="99314"/>
                  </a:cubicBezTo>
                  <a:cubicBezTo>
                    <a:pt x="67310" y="92456"/>
                    <a:pt x="73279" y="85852"/>
                    <a:pt x="79629" y="79629"/>
                  </a:cubicBezTo>
                  <a:cubicBezTo>
                    <a:pt x="85979" y="73406"/>
                    <a:pt x="92329" y="67310"/>
                    <a:pt x="99314" y="61595"/>
                  </a:cubicBezTo>
                  <a:cubicBezTo>
                    <a:pt x="106299" y="55880"/>
                    <a:pt x="113284" y="50673"/>
                    <a:pt x="120650" y="45720"/>
                  </a:cubicBezTo>
                  <a:cubicBezTo>
                    <a:pt x="128016" y="40767"/>
                    <a:pt x="135636" y="36195"/>
                    <a:pt x="143510" y="32004"/>
                  </a:cubicBezTo>
                  <a:cubicBezTo>
                    <a:pt x="151384" y="27813"/>
                    <a:pt x="159385" y="24003"/>
                    <a:pt x="167640" y="20574"/>
                  </a:cubicBezTo>
                  <a:cubicBezTo>
                    <a:pt x="175895" y="17145"/>
                    <a:pt x="184150" y="14224"/>
                    <a:pt x="192659" y="11557"/>
                  </a:cubicBezTo>
                  <a:cubicBezTo>
                    <a:pt x="201168" y="8890"/>
                    <a:pt x="209804" y="6985"/>
                    <a:pt x="218440" y="5207"/>
                  </a:cubicBezTo>
                  <a:cubicBezTo>
                    <a:pt x="227076" y="3429"/>
                    <a:pt x="235966" y="2159"/>
                    <a:pt x="244856" y="1270"/>
                  </a:cubicBezTo>
                  <a:cubicBezTo>
                    <a:pt x="253746" y="381"/>
                    <a:pt x="262636" y="0"/>
                    <a:pt x="271526" y="0"/>
                  </a:cubicBezTo>
                  <a:lnTo>
                    <a:pt x="4710176" y="0"/>
                  </a:lnTo>
                  <a:cubicBezTo>
                    <a:pt x="4719066" y="0"/>
                    <a:pt x="4727956" y="381"/>
                    <a:pt x="4736846" y="1270"/>
                  </a:cubicBezTo>
                  <a:cubicBezTo>
                    <a:pt x="4745736" y="2159"/>
                    <a:pt x="4754499" y="3429"/>
                    <a:pt x="4763262" y="5207"/>
                  </a:cubicBezTo>
                  <a:cubicBezTo>
                    <a:pt x="4772025" y="6985"/>
                    <a:pt x="4780534" y="9144"/>
                    <a:pt x="4789043" y="11684"/>
                  </a:cubicBezTo>
                  <a:cubicBezTo>
                    <a:pt x="4797552" y="14224"/>
                    <a:pt x="4805934" y="17272"/>
                    <a:pt x="4814062" y="20701"/>
                  </a:cubicBezTo>
                  <a:cubicBezTo>
                    <a:pt x="4822190" y="24130"/>
                    <a:pt x="4830318" y="27940"/>
                    <a:pt x="4838192" y="32131"/>
                  </a:cubicBezTo>
                  <a:cubicBezTo>
                    <a:pt x="4846066" y="36322"/>
                    <a:pt x="4853686" y="40894"/>
                    <a:pt x="4861052" y="45847"/>
                  </a:cubicBezTo>
                  <a:cubicBezTo>
                    <a:pt x="4868418" y="50800"/>
                    <a:pt x="4875530" y="56134"/>
                    <a:pt x="4882388" y="61722"/>
                  </a:cubicBezTo>
                  <a:cubicBezTo>
                    <a:pt x="4889245" y="67310"/>
                    <a:pt x="4895850" y="73279"/>
                    <a:pt x="4902072" y="79629"/>
                  </a:cubicBezTo>
                  <a:cubicBezTo>
                    <a:pt x="4908295" y="85979"/>
                    <a:pt x="4914392" y="92456"/>
                    <a:pt x="4919980" y="99314"/>
                  </a:cubicBezTo>
                  <a:cubicBezTo>
                    <a:pt x="4925568" y="106172"/>
                    <a:pt x="4930901" y="113284"/>
                    <a:pt x="4935855" y="120650"/>
                  </a:cubicBezTo>
                  <a:cubicBezTo>
                    <a:pt x="4940808" y="128016"/>
                    <a:pt x="4945380" y="135636"/>
                    <a:pt x="4949570" y="143510"/>
                  </a:cubicBezTo>
                  <a:cubicBezTo>
                    <a:pt x="4953761" y="151384"/>
                    <a:pt x="4957571" y="159385"/>
                    <a:pt x="4961000" y="167640"/>
                  </a:cubicBezTo>
                  <a:cubicBezTo>
                    <a:pt x="4964429" y="175895"/>
                    <a:pt x="4967350" y="184150"/>
                    <a:pt x="4970017" y="192659"/>
                  </a:cubicBezTo>
                  <a:cubicBezTo>
                    <a:pt x="4972684" y="201168"/>
                    <a:pt x="4974716" y="209804"/>
                    <a:pt x="4976494" y="218567"/>
                  </a:cubicBezTo>
                  <a:cubicBezTo>
                    <a:pt x="4978272" y="227330"/>
                    <a:pt x="4979542" y="236093"/>
                    <a:pt x="4980431" y="244856"/>
                  </a:cubicBezTo>
                  <a:cubicBezTo>
                    <a:pt x="4981320" y="253619"/>
                    <a:pt x="4981701" y="262509"/>
                    <a:pt x="4981701" y="271526"/>
                  </a:cubicBezTo>
                  <a:cubicBezTo>
                    <a:pt x="4981701" y="280543"/>
                    <a:pt x="4981320" y="289306"/>
                    <a:pt x="4980431" y="298196"/>
                  </a:cubicBezTo>
                  <a:cubicBezTo>
                    <a:pt x="4979542" y="307086"/>
                    <a:pt x="4978272" y="315849"/>
                    <a:pt x="4976494" y="324485"/>
                  </a:cubicBezTo>
                  <a:cubicBezTo>
                    <a:pt x="4974717" y="333121"/>
                    <a:pt x="4972557" y="341884"/>
                    <a:pt x="4970017" y="350393"/>
                  </a:cubicBezTo>
                  <a:cubicBezTo>
                    <a:pt x="4967477" y="358902"/>
                    <a:pt x="4964429" y="367284"/>
                    <a:pt x="4961000" y="375412"/>
                  </a:cubicBezTo>
                  <a:cubicBezTo>
                    <a:pt x="4957571" y="383540"/>
                    <a:pt x="4953761" y="391668"/>
                    <a:pt x="4949570" y="399542"/>
                  </a:cubicBezTo>
                  <a:cubicBezTo>
                    <a:pt x="4945380" y="407416"/>
                    <a:pt x="4940807" y="415036"/>
                    <a:pt x="4935855" y="422402"/>
                  </a:cubicBezTo>
                  <a:cubicBezTo>
                    <a:pt x="4930902" y="429768"/>
                    <a:pt x="4925568" y="436880"/>
                    <a:pt x="4919980" y="443738"/>
                  </a:cubicBezTo>
                  <a:cubicBezTo>
                    <a:pt x="4914392" y="450596"/>
                    <a:pt x="4908422" y="457200"/>
                    <a:pt x="4902072" y="463423"/>
                  </a:cubicBezTo>
                  <a:cubicBezTo>
                    <a:pt x="4895722" y="469646"/>
                    <a:pt x="4889245" y="475615"/>
                    <a:pt x="4882388" y="481330"/>
                  </a:cubicBezTo>
                  <a:cubicBezTo>
                    <a:pt x="4875530" y="487045"/>
                    <a:pt x="4868418" y="492252"/>
                    <a:pt x="4861052" y="497205"/>
                  </a:cubicBezTo>
                  <a:cubicBezTo>
                    <a:pt x="4853686" y="502158"/>
                    <a:pt x="4846066" y="506730"/>
                    <a:pt x="4838192" y="510921"/>
                  </a:cubicBezTo>
                  <a:cubicBezTo>
                    <a:pt x="4830318" y="515112"/>
                    <a:pt x="4822317" y="518922"/>
                    <a:pt x="4814062" y="522351"/>
                  </a:cubicBezTo>
                  <a:cubicBezTo>
                    <a:pt x="4805807" y="525780"/>
                    <a:pt x="4797552" y="528701"/>
                    <a:pt x="4789043" y="531368"/>
                  </a:cubicBezTo>
                  <a:cubicBezTo>
                    <a:pt x="4780534" y="534035"/>
                    <a:pt x="4771898" y="536067"/>
                    <a:pt x="4763262" y="537845"/>
                  </a:cubicBezTo>
                  <a:cubicBezTo>
                    <a:pt x="4754626" y="539623"/>
                    <a:pt x="4745736" y="540893"/>
                    <a:pt x="4736846" y="541782"/>
                  </a:cubicBezTo>
                  <a:cubicBezTo>
                    <a:pt x="4727956" y="542671"/>
                    <a:pt x="4719066" y="543052"/>
                    <a:pt x="4710176" y="543052"/>
                  </a:cubicBezTo>
                  <a:lnTo>
                    <a:pt x="271526" y="543052"/>
                  </a:lnTo>
                  <a:cubicBezTo>
                    <a:pt x="262636" y="543052"/>
                    <a:pt x="253746" y="542671"/>
                    <a:pt x="244856" y="541782"/>
                  </a:cubicBezTo>
                  <a:cubicBezTo>
                    <a:pt x="235966" y="540893"/>
                    <a:pt x="227203" y="539623"/>
                    <a:pt x="218440" y="537845"/>
                  </a:cubicBezTo>
                  <a:cubicBezTo>
                    <a:pt x="209677" y="536067"/>
                    <a:pt x="201168" y="533908"/>
                    <a:pt x="192659" y="531368"/>
                  </a:cubicBezTo>
                  <a:cubicBezTo>
                    <a:pt x="184150" y="528828"/>
                    <a:pt x="175768" y="525780"/>
                    <a:pt x="167640" y="522351"/>
                  </a:cubicBezTo>
                  <a:cubicBezTo>
                    <a:pt x="159512" y="518922"/>
                    <a:pt x="151384" y="515112"/>
                    <a:pt x="143510" y="510921"/>
                  </a:cubicBezTo>
                  <a:cubicBezTo>
                    <a:pt x="135636" y="506730"/>
                    <a:pt x="128016" y="502158"/>
                    <a:pt x="120650" y="497205"/>
                  </a:cubicBezTo>
                  <a:cubicBezTo>
                    <a:pt x="113284" y="492252"/>
                    <a:pt x="106172" y="486918"/>
                    <a:pt x="99314" y="481330"/>
                  </a:cubicBezTo>
                  <a:cubicBezTo>
                    <a:pt x="92456" y="475742"/>
                    <a:pt x="85852" y="469773"/>
                    <a:pt x="79629" y="463423"/>
                  </a:cubicBezTo>
                  <a:cubicBezTo>
                    <a:pt x="73406" y="457073"/>
                    <a:pt x="67437" y="450596"/>
                    <a:pt x="61722" y="443738"/>
                  </a:cubicBezTo>
                  <a:cubicBezTo>
                    <a:pt x="56007" y="436880"/>
                    <a:pt x="50800" y="429768"/>
                    <a:pt x="45847" y="422402"/>
                  </a:cubicBezTo>
                  <a:cubicBezTo>
                    <a:pt x="40894" y="415036"/>
                    <a:pt x="36322" y="407416"/>
                    <a:pt x="32131" y="399542"/>
                  </a:cubicBezTo>
                  <a:cubicBezTo>
                    <a:pt x="27940" y="391668"/>
                    <a:pt x="24130" y="383667"/>
                    <a:pt x="20701" y="375412"/>
                  </a:cubicBezTo>
                  <a:cubicBezTo>
                    <a:pt x="17272" y="367157"/>
                    <a:pt x="14351" y="358902"/>
                    <a:pt x="11684" y="350393"/>
                  </a:cubicBezTo>
                  <a:cubicBezTo>
                    <a:pt x="9017" y="341884"/>
                    <a:pt x="6985" y="333248"/>
                    <a:pt x="5207" y="324485"/>
                  </a:cubicBezTo>
                  <a:cubicBezTo>
                    <a:pt x="3429" y="315722"/>
                    <a:pt x="2159" y="306959"/>
                    <a:pt x="1270" y="298069"/>
                  </a:cubicBezTo>
                  <a:cubicBezTo>
                    <a:pt x="381" y="289179"/>
                    <a:pt x="0" y="280289"/>
                    <a:pt x="0" y="271399"/>
                  </a:cubicBezTo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5981700" y="6905625"/>
            <a:ext cx="666750" cy="295275"/>
            <a:chOff x="0" y="0"/>
            <a:chExt cx="666750" cy="295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6750" cy="295275"/>
            </a:xfrm>
            <a:custGeom>
              <a:avLst/>
              <a:gdLst/>
              <a:ahLst/>
              <a:cxnLst/>
              <a:rect r="r" b="b" t="t" l="l"/>
              <a:pathLst>
                <a:path h="295275" w="666750">
                  <a:moveTo>
                    <a:pt x="0" y="268478"/>
                  </a:moveTo>
                  <a:lnTo>
                    <a:pt x="0" y="26797"/>
                  </a:lnTo>
                  <a:cubicBezTo>
                    <a:pt x="0" y="23241"/>
                    <a:pt x="635" y="19812"/>
                    <a:pt x="2032" y="16510"/>
                  </a:cubicBezTo>
                  <a:cubicBezTo>
                    <a:pt x="3429" y="13208"/>
                    <a:pt x="5334" y="10414"/>
                    <a:pt x="7874" y="7874"/>
                  </a:cubicBezTo>
                  <a:cubicBezTo>
                    <a:pt x="10414" y="5334"/>
                    <a:pt x="13208" y="3429"/>
                    <a:pt x="16510" y="2032"/>
                  </a:cubicBezTo>
                  <a:cubicBezTo>
                    <a:pt x="19812" y="635"/>
                    <a:pt x="23241" y="0"/>
                    <a:pt x="26797" y="0"/>
                  </a:cubicBezTo>
                  <a:lnTo>
                    <a:pt x="639953" y="0"/>
                  </a:lnTo>
                  <a:cubicBezTo>
                    <a:pt x="643509" y="0"/>
                    <a:pt x="646938" y="635"/>
                    <a:pt x="650240" y="2032"/>
                  </a:cubicBezTo>
                  <a:cubicBezTo>
                    <a:pt x="653542" y="3429"/>
                    <a:pt x="656463" y="5334"/>
                    <a:pt x="658876" y="7874"/>
                  </a:cubicBezTo>
                  <a:cubicBezTo>
                    <a:pt x="661289" y="10414"/>
                    <a:pt x="663321" y="13335"/>
                    <a:pt x="664718" y="16510"/>
                  </a:cubicBezTo>
                  <a:cubicBezTo>
                    <a:pt x="666115" y="19685"/>
                    <a:pt x="666750" y="23241"/>
                    <a:pt x="666750" y="26797"/>
                  </a:cubicBezTo>
                  <a:lnTo>
                    <a:pt x="666750" y="268478"/>
                  </a:lnTo>
                  <a:cubicBezTo>
                    <a:pt x="666750" y="272034"/>
                    <a:pt x="666115" y="275463"/>
                    <a:pt x="664718" y="278765"/>
                  </a:cubicBezTo>
                  <a:cubicBezTo>
                    <a:pt x="663321" y="282067"/>
                    <a:pt x="661416" y="284988"/>
                    <a:pt x="658876" y="287401"/>
                  </a:cubicBezTo>
                  <a:cubicBezTo>
                    <a:pt x="656336" y="289814"/>
                    <a:pt x="653415" y="291846"/>
                    <a:pt x="650240" y="293243"/>
                  </a:cubicBezTo>
                  <a:cubicBezTo>
                    <a:pt x="647065" y="294640"/>
                    <a:pt x="643509" y="295275"/>
                    <a:pt x="639953" y="295275"/>
                  </a:cubicBezTo>
                  <a:lnTo>
                    <a:pt x="26797" y="295275"/>
                  </a:lnTo>
                  <a:cubicBezTo>
                    <a:pt x="23241" y="295275"/>
                    <a:pt x="19812" y="294640"/>
                    <a:pt x="16510" y="293243"/>
                  </a:cubicBezTo>
                  <a:cubicBezTo>
                    <a:pt x="13208" y="291846"/>
                    <a:pt x="10287" y="289941"/>
                    <a:pt x="7874" y="287401"/>
                  </a:cubicBezTo>
                  <a:cubicBezTo>
                    <a:pt x="5461" y="284861"/>
                    <a:pt x="3429" y="281940"/>
                    <a:pt x="2032" y="278765"/>
                  </a:cubicBezTo>
                  <a:cubicBezTo>
                    <a:pt x="635" y="275590"/>
                    <a:pt x="0" y="272034"/>
                    <a:pt x="0" y="268478"/>
                  </a:cubicBezTo>
                </a:path>
              </a:pathLst>
            </a:custGeom>
            <a:solidFill>
              <a:srgbClr val="19174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37575" y="5130689"/>
            <a:ext cx="97005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Structure (Continued) &amp; Evaluation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7192" y="5576726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9750" y="7300751"/>
            <a:ext cx="4591660" cy="8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Loads the trained model, generates captions for new images, and calculates critical performance metrics like BLEU scores to assess caption quality.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575" y="5719601"/>
            <a:ext cx="8937355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Dedicated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scripts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handle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testing,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performance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evaluation,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provide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interactive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graphical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user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interface.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8253" y="7300751"/>
            <a:ext cx="4633674" cy="8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Provides an interactive interface for users to upload images, visualize generated captions, and see real-time results, enhancing user experience and debugging.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77461" y="6248514"/>
            <a:ext cx="107833" cy="37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b="true" sz="2151" spc="9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13979" y="6248514"/>
            <a:ext cx="173869" cy="37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b="true" sz="2151" spc="9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9750" y="6889804"/>
            <a:ext cx="752637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test.py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88253" y="6889804"/>
            <a:ext cx="658854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9E1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gui.py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308144"/>
            <a:ext cx="11556997" cy="8366122"/>
            <a:chOff x="0" y="0"/>
            <a:chExt cx="11557000" cy="8366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8239125"/>
            </a:xfrm>
            <a:custGeom>
              <a:avLst/>
              <a:gdLst/>
              <a:ahLst/>
              <a:cxnLst/>
              <a:rect r="r" b="b" t="t" l="l"/>
              <a:pathLst>
                <a:path h="8239125" w="11430000">
                  <a:moveTo>
                    <a:pt x="0" y="0"/>
                  </a:moveTo>
                  <a:lnTo>
                    <a:pt x="0" y="8239125"/>
                  </a:lnTo>
                  <a:lnTo>
                    <a:pt x="11430000" y="8239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8239125"/>
            </a:xfrm>
            <a:custGeom>
              <a:avLst/>
              <a:gdLst/>
              <a:ahLst/>
              <a:cxnLst/>
              <a:rect r="r" b="b" t="t" l="l"/>
              <a:pathLst>
                <a:path h="8239125" w="11430000">
                  <a:moveTo>
                    <a:pt x="0" y="0"/>
                  </a:moveTo>
                  <a:lnTo>
                    <a:pt x="0" y="8239125"/>
                  </a:lnTo>
                  <a:lnTo>
                    <a:pt x="11430000" y="8239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8239125"/>
            </a:xfrm>
            <a:custGeom>
              <a:avLst/>
              <a:gdLst/>
              <a:ahLst/>
              <a:cxnLst/>
              <a:rect r="r" b="b" t="t" l="l"/>
              <a:pathLst>
                <a:path h="8239125" w="11430000">
                  <a:moveTo>
                    <a:pt x="0" y="0"/>
                  </a:moveTo>
                  <a:lnTo>
                    <a:pt x="0" y="8239125"/>
                  </a:lnTo>
                  <a:lnTo>
                    <a:pt x="11430000" y="8239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8239125"/>
            </a:xfrm>
            <a:custGeom>
              <a:avLst/>
              <a:gdLst/>
              <a:ahLst/>
              <a:cxnLst/>
              <a:rect r="r" b="b" t="t" l="l"/>
              <a:pathLst>
                <a:path h="8239125" w="11430000">
                  <a:moveTo>
                    <a:pt x="0" y="0"/>
                  </a:moveTo>
                  <a:lnTo>
                    <a:pt x="0" y="8239125"/>
                  </a:lnTo>
                  <a:lnTo>
                    <a:pt x="11430000" y="8239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8239125"/>
            </a:xfrm>
            <a:custGeom>
              <a:avLst/>
              <a:gdLst/>
              <a:ahLst/>
              <a:cxnLst/>
              <a:rect r="r" b="b" t="t" l="l"/>
              <a:pathLst>
                <a:path h="8239125" w="11430000">
                  <a:moveTo>
                    <a:pt x="0" y="0"/>
                  </a:moveTo>
                  <a:lnTo>
                    <a:pt x="0" y="8239125"/>
                  </a:lnTo>
                  <a:lnTo>
                    <a:pt x="11430000" y="8239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47700" y="3686222"/>
            <a:ext cx="3276600" cy="2181225"/>
            <a:chOff x="0" y="0"/>
            <a:chExt cx="4368800" cy="2908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68800" cy="2908300"/>
            </a:xfrm>
            <a:custGeom>
              <a:avLst/>
              <a:gdLst/>
              <a:ahLst/>
              <a:cxnLst/>
              <a:rect r="r" b="b" t="t" l="l"/>
              <a:pathLst>
                <a:path h="2908300" w="43688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2877947"/>
                  </a:lnTo>
                  <a:cubicBezTo>
                    <a:pt x="0" y="2886329"/>
                    <a:pt x="2921" y="2893441"/>
                    <a:pt x="8890" y="2899410"/>
                  </a:cubicBezTo>
                  <a:cubicBezTo>
                    <a:pt x="14859" y="2905379"/>
                    <a:pt x="21971" y="2908300"/>
                    <a:pt x="30353" y="2908300"/>
                  </a:cubicBezTo>
                  <a:lnTo>
                    <a:pt x="4338447" y="2908300"/>
                  </a:lnTo>
                  <a:cubicBezTo>
                    <a:pt x="4346829" y="2908300"/>
                    <a:pt x="4353941" y="2905379"/>
                    <a:pt x="4359910" y="2899410"/>
                  </a:cubicBezTo>
                  <a:cubicBezTo>
                    <a:pt x="4365879" y="2893441"/>
                    <a:pt x="4368800" y="2886329"/>
                    <a:pt x="4368800" y="2877947"/>
                  </a:cubicBezTo>
                  <a:lnTo>
                    <a:pt x="4368800" y="30353"/>
                  </a:lnTo>
                  <a:cubicBezTo>
                    <a:pt x="4368800" y="21971"/>
                    <a:pt x="4365879" y="14859"/>
                    <a:pt x="4359910" y="8890"/>
                  </a:cubicBezTo>
                  <a:cubicBezTo>
                    <a:pt x="4353941" y="2921"/>
                    <a:pt x="4346829" y="0"/>
                    <a:pt x="43384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" r="0" b="-27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076700" y="3686222"/>
            <a:ext cx="3276600" cy="2181225"/>
            <a:chOff x="0" y="0"/>
            <a:chExt cx="4368800" cy="2908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68800" cy="2908300"/>
            </a:xfrm>
            <a:custGeom>
              <a:avLst/>
              <a:gdLst/>
              <a:ahLst/>
              <a:cxnLst/>
              <a:rect r="r" b="b" t="t" l="l"/>
              <a:pathLst>
                <a:path h="2908300" w="43688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2877947"/>
                  </a:lnTo>
                  <a:cubicBezTo>
                    <a:pt x="0" y="2886329"/>
                    <a:pt x="2921" y="2893441"/>
                    <a:pt x="8890" y="2899410"/>
                  </a:cubicBezTo>
                  <a:cubicBezTo>
                    <a:pt x="14859" y="2905379"/>
                    <a:pt x="21971" y="2908300"/>
                    <a:pt x="30353" y="2908300"/>
                  </a:cubicBezTo>
                  <a:lnTo>
                    <a:pt x="4338447" y="2908300"/>
                  </a:lnTo>
                  <a:cubicBezTo>
                    <a:pt x="4346829" y="2908300"/>
                    <a:pt x="4353941" y="2905379"/>
                    <a:pt x="4359910" y="2899410"/>
                  </a:cubicBezTo>
                  <a:cubicBezTo>
                    <a:pt x="4365879" y="2893441"/>
                    <a:pt x="4368800" y="2886329"/>
                    <a:pt x="4368800" y="2877947"/>
                  </a:cubicBezTo>
                  <a:lnTo>
                    <a:pt x="4368800" y="30353"/>
                  </a:lnTo>
                  <a:cubicBezTo>
                    <a:pt x="4368800" y="21971"/>
                    <a:pt x="4365879" y="14859"/>
                    <a:pt x="4359910" y="8890"/>
                  </a:cubicBezTo>
                  <a:cubicBezTo>
                    <a:pt x="4353941" y="2921"/>
                    <a:pt x="4346829" y="0"/>
                    <a:pt x="433844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505700" y="3686222"/>
            <a:ext cx="3276600" cy="2181225"/>
            <a:chOff x="0" y="0"/>
            <a:chExt cx="4368800" cy="2908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68800" cy="2908300"/>
            </a:xfrm>
            <a:custGeom>
              <a:avLst/>
              <a:gdLst/>
              <a:ahLst/>
              <a:cxnLst/>
              <a:rect r="r" b="b" t="t" l="l"/>
              <a:pathLst>
                <a:path h="2908300" w="43688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2877947"/>
                  </a:lnTo>
                  <a:cubicBezTo>
                    <a:pt x="0" y="2886329"/>
                    <a:pt x="2921" y="2893441"/>
                    <a:pt x="8890" y="2899410"/>
                  </a:cubicBezTo>
                  <a:cubicBezTo>
                    <a:pt x="14859" y="2905379"/>
                    <a:pt x="21971" y="2908300"/>
                    <a:pt x="30353" y="2908300"/>
                  </a:cubicBezTo>
                  <a:lnTo>
                    <a:pt x="4338447" y="2908300"/>
                  </a:lnTo>
                  <a:cubicBezTo>
                    <a:pt x="4346829" y="2908300"/>
                    <a:pt x="4353941" y="2905379"/>
                    <a:pt x="4359910" y="2899410"/>
                  </a:cubicBezTo>
                  <a:cubicBezTo>
                    <a:pt x="4365879" y="2893441"/>
                    <a:pt x="4368800" y="2886329"/>
                    <a:pt x="4368800" y="2877947"/>
                  </a:cubicBezTo>
                  <a:lnTo>
                    <a:pt x="4368800" y="30353"/>
                  </a:lnTo>
                  <a:cubicBezTo>
                    <a:pt x="4368800" y="21971"/>
                    <a:pt x="4365879" y="14859"/>
                    <a:pt x="4359910" y="8890"/>
                  </a:cubicBezTo>
                  <a:cubicBezTo>
                    <a:pt x="4353941" y="2921"/>
                    <a:pt x="4346829" y="0"/>
                    <a:pt x="433844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" r="0" b="-27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47700" y="6010322"/>
            <a:ext cx="10134600" cy="2190750"/>
            <a:chOff x="0" y="0"/>
            <a:chExt cx="135128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2798" cy="2921000"/>
            </a:xfrm>
            <a:custGeom>
              <a:avLst/>
              <a:gdLst/>
              <a:ahLst/>
              <a:cxnLst/>
              <a:rect r="r" b="b" t="t" l="l"/>
              <a:pathLst>
                <a:path h="2921000" w="13512798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2890647"/>
                  </a:lnTo>
                  <a:cubicBezTo>
                    <a:pt x="0" y="2899029"/>
                    <a:pt x="2921" y="2906141"/>
                    <a:pt x="8890" y="2912110"/>
                  </a:cubicBezTo>
                  <a:cubicBezTo>
                    <a:pt x="14859" y="2918079"/>
                    <a:pt x="21971" y="2921000"/>
                    <a:pt x="30353" y="2921000"/>
                  </a:cubicBezTo>
                  <a:lnTo>
                    <a:pt x="13482447" y="2921000"/>
                  </a:lnTo>
                  <a:cubicBezTo>
                    <a:pt x="13490829" y="2921000"/>
                    <a:pt x="13497940" y="2918079"/>
                    <a:pt x="13503909" y="2912110"/>
                  </a:cubicBezTo>
                  <a:cubicBezTo>
                    <a:pt x="13509878" y="2906141"/>
                    <a:pt x="13512798" y="2899029"/>
                    <a:pt x="13512798" y="2890647"/>
                  </a:cubicBezTo>
                  <a:lnTo>
                    <a:pt x="13512798" y="30353"/>
                  </a:lnTo>
                  <a:cubicBezTo>
                    <a:pt x="13512798" y="21971"/>
                    <a:pt x="13509878" y="14859"/>
                    <a:pt x="13503909" y="8890"/>
                  </a:cubicBezTo>
                  <a:cubicBezTo>
                    <a:pt x="13497940" y="2921"/>
                    <a:pt x="13490828" y="0"/>
                    <a:pt x="1348244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43" r="0" b="-64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7575" y="2111311"/>
            <a:ext cx="825866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Foundation: Flickr8k 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224" y="2643072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575" y="8510472"/>
            <a:ext cx="10000298" cy="58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This dataset facilitates robust training, enabling the model to learn diverse visual concepts and their corresponding Arabic descriptions.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575" y="2757372"/>
            <a:ext cx="10299506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TheFlickr8k datasetwaschosenforitsbalancedimagecollectionandcomprehensiveannotations,providing a solid base for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575" y="3052647"/>
            <a:ext cx="1537716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training our model.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1517494"/>
            <a:ext cx="11556997" cy="7947022"/>
            <a:chOff x="0" y="0"/>
            <a:chExt cx="11557000" cy="79470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820025"/>
            </a:xfrm>
            <a:custGeom>
              <a:avLst/>
              <a:gdLst/>
              <a:ahLst/>
              <a:cxnLst/>
              <a:rect r="r" b="b" t="t" l="l"/>
              <a:pathLst>
                <a:path h="7820025" w="11430000">
                  <a:moveTo>
                    <a:pt x="0" y="0"/>
                  </a:moveTo>
                  <a:lnTo>
                    <a:pt x="0" y="7820025"/>
                  </a:lnTo>
                  <a:lnTo>
                    <a:pt x="11430000" y="7820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820025"/>
            </a:xfrm>
            <a:custGeom>
              <a:avLst/>
              <a:gdLst/>
              <a:ahLst/>
              <a:cxnLst/>
              <a:rect r="r" b="b" t="t" l="l"/>
              <a:pathLst>
                <a:path h="7820025" w="11430000">
                  <a:moveTo>
                    <a:pt x="0" y="0"/>
                  </a:moveTo>
                  <a:lnTo>
                    <a:pt x="0" y="7820025"/>
                  </a:lnTo>
                  <a:lnTo>
                    <a:pt x="11430000" y="7820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820025"/>
            </a:xfrm>
            <a:custGeom>
              <a:avLst/>
              <a:gdLst/>
              <a:ahLst/>
              <a:cxnLst/>
              <a:rect r="r" b="b" t="t" l="l"/>
              <a:pathLst>
                <a:path h="7820025" w="11430000">
                  <a:moveTo>
                    <a:pt x="0" y="0"/>
                  </a:moveTo>
                  <a:lnTo>
                    <a:pt x="0" y="7820025"/>
                  </a:lnTo>
                  <a:lnTo>
                    <a:pt x="11430000" y="7820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7820025"/>
            </a:xfrm>
            <a:custGeom>
              <a:avLst/>
              <a:gdLst/>
              <a:ahLst/>
              <a:cxnLst/>
              <a:rect r="r" b="b" t="t" l="l"/>
              <a:pathLst>
                <a:path h="7820025" w="11430000">
                  <a:moveTo>
                    <a:pt x="0" y="0"/>
                  </a:moveTo>
                  <a:lnTo>
                    <a:pt x="0" y="7820025"/>
                  </a:lnTo>
                  <a:lnTo>
                    <a:pt x="11430000" y="7820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0D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7820025"/>
            </a:xfrm>
            <a:custGeom>
              <a:avLst/>
              <a:gdLst/>
              <a:ahLst/>
              <a:cxnLst/>
              <a:rect r="r" b="b" t="t" l="l"/>
              <a:pathLst>
                <a:path h="7820025" w="11430000">
                  <a:moveTo>
                    <a:pt x="0" y="0"/>
                  </a:moveTo>
                  <a:lnTo>
                    <a:pt x="0" y="7820025"/>
                  </a:lnTo>
                  <a:lnTo>
                    <a:pt x="11430000" y="7820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C0A3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1580998"/>
            <a:ext cx="11430000" cy="2276475"/>
          </a:xfrm>
          <a:custGeom>
            <a:avLst/>
            <a:gdLst/>
            <a:ahLst/>
            <a:cxnLst/>
            <a:rect r="r" b="b" t="t" l="l"/>
            <a:pathLst>
              <a:path h="2276475" w="11430000">
                <a:moveTo>
                  <a:pt x="0" y="0"/>
                </a:moveTo>
                <a:lnTo>
                  <a:pt x="11430000" y="0"/>
                </a:lnTo>
                <a:lnTo>
                  <a:pt x="11430000" y="2276475"/>
                </a:lnTo>
                <a:lnTo>
                  <a:pt x="0" y="2276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5" r="0" b="-405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38175" y="6200623"/>
            <a:ext cx="409575" cy="409575"/>
            <a:chOff x="0" y="0"/>
            <a:chExt cx="409575" cy="409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9702" cy="409702"/>
            </a:xfrm>
            <a:custGeom>
              <a:avLst/>
              <a:gdLst/>
              <a:ahLst/>
              <a:cxnLst/>
              <a:rect r="r" b="b" t="t" l="l"/>
              <a:pathLst>
                <a:path h="409702" w="409702">
                  <a:moveTo>
                    <a:pt x="0" y="38684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921"/>
                    <a:pt x="14097" y="1778"/>
                  </a:cubicBezTo>
                  <a:cubicBezTo>
                    <a:pt x="16891" y="635"/>
                    <a:pt x="19812" y="0"/>
                    <a:pt x="22733" y="0"/>
                  </a:cubicBezTo>
                  <a:lnTo>
                    <a:pt x="386842" y="0"/>
                  </a:lnTo>
                  <a:cubicBezTo>
                    <a:pt x="389890" y="0"/>
                    <a:pt x="392811" y="635"/>
                    <a:pt x="395605" y="1778"/>
                  </a:cubicBezTo>
                  <a:cubicBezTo>
                    <a:pt x="398399" y="2921"/>
                    <a:pt x="400812" y="4572"/>
                    <a:pt x="402971" y="6731"/>
                  </a:cubicBezTo>
                  <a:cubicBezTo>
                    <a:pt x="405130" y="8890"/>
                    <a:pt x="406781" y="11303"/>
                    <a:pt x="407924" y="14097"/>
                  </a:cubicBezTo>
                  <a:cubicBezTo>
                    <a:pt x="409067" y="16891"/>
                    <a:pt x="409702" y="19812"/>
                    <a:pt x="409702" y="22860"/>
                  </a:cubicBezTo>
                  <a:lnTo>
                    <a:pt x="409702" y="386842"/>
                  </a:lnTo>
                  <a:cubicBezTo>
                    <a:pt x="409702" y="389890"/>
                    <a:pt x="409067" y="392811"/>
                    <a:pt x="407924" y="395605"/>
                  </a:cubicBezTo>
                  <a:cubicBezTo>
                    <a:pt x="406781" y="398399"/>
                    <a:pt x="405130" y="400812"/>
                    <a:pt x="402971" y="402971"/>
                  </a:cubicBezTo>
                  <a:cubicBezTo>
                    <a:pt x="400812" y="405130"/>
                    <a:pt x="398399" y="406781"/>
                    <a:pt x="395605" y="407924"/>
                  </a:cubicBezTo>
                  <a:cubicBezTo>
                    <a:pt x="392811" y="409067"/>
                    <a:pt x="389890" y="409702"/>
                    <a:pt x="386842" y="409702"/>
                  </a:cubicBezTo>
                  <a:lnTo>
                    <a:pt x="22733" y="409702"/>
                  </a:lnTo>
                  <a:cubicBezTo>
                    <a:pt x="19685" y="409702"/>
                    <a:pt x="16764" y="409194"/>
                    <a:pt x="13970" y="407924"/>
                  </a:cubicBezTo>
                  <a:cubicBezTo>
                    <a:pt x="11176" y="406654"/>
                    <a:pt x="8763" y="405130"/>
                    <a:pt x="6604" y="402971"/>
                  </a:cubicBezTo>
                  <a:cubicBezTo>
                    <a:pt x="4445" y="400812"/>
                    <a:pt x="2794" y="398399"/>
                    <a:pt x="1651" y="395605"/>
                  </a:cubicBezTo>
                  <a:cubicBezTo>
                    <a:pt x="508" y="392811"/>
                    <a:pt x="0" y="389763"/>
                    <a:pt x="0" y="386842"/>
                  </a:cubicBezTo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38175" y="7877023"/>
            <a:ext cx="409575" cy="409575"/>
            <a:chOff x="0" y="0"/>
            <a:chExt cx="409575" cy="409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9702" cy="409702"/>
            </a:xfrm>
            <a:custGeom>
              <a:avLst/>
              <a:gdLst/>
              <a:ahLst/>
              <a:cxnLst/>
              <a:rect r="r" b="b" t="t" l="l"/>
              <a:pathLst>
                <a:path h="409702" w="409702">
                  <a:moveTo>
                    <a:pt x="0" y="38684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731"/>
                  </a:cubicBezTo>
                  <a:cubicBezTo>
                    <a:pt x="8890" y="4699"/>
                    <a:pt x="11303" y="2921"/>
                    <a:pt x="14097" y="1778"/>
                  </a:cubicBezTo>
                  <a:cubicBezTo>
                    <a:pt x="16891" y="635"/>
                    <a:pt x="19812" y="0"/>
                    <a:pt x="22733" y="0"/>
                  </a:cubicBezTo>
                  <a:lnTo>
                    <a:pt x="386842" y="0"/>
                  </a:lnTo>
                  <a:cubicBezTo>
                    <a:pt x="389890" y="0"/>
                    <a:pt x="392811" y="635"/>
                    <a:pt x="395605" y="1778"/>
                  </a:cubicBezTo>
                  <a:cubicBezTo>
                    <a:pt x="398399" y="2921"/>
                    <a:pt x="400812" y="4572"/>
                    <a:pt x="402971" y="6731"/>
                  </a:cubicBezTo>
                  <a:cubicBezTo>
                    <a:pt x="405130" y="8890"/>
                    <a:pt x="406781" y="11303"/>
                    <a:pt x="407924" y="14097"/>
                  </a:cubicBezTo>
                  <a:cubicBezTo>
                    <a:pt x="409067" y="16891"/>
                    <a:pt x="409702" y="19812"/>
                    <a:pt x="409702" y="22860"/>
                  </a:cubicBezTo>
                  <a:lnTo>
                    <a:pt x="409702" y="386842"/>
                  </a:lnTo>
                  <a:cubicBezTo>
                    <a:pt x="409702" y="389890"/>
                    <a:pt x="409067" y="392811"/>
                    <a:pt x="407924" y="395605"/>
                  </a:cubicBezTo>
                  <a:cubicBezTo>
                    <a:pt x="406781" y="398399"/>
                    <a:pt x="405130" y="400812"/>
                    <a:pt x="402971" y="402971"/>
                  </a:cubicBezTo>
                  <a:cubicBezTo>
                    <a:pt x="400812" y="405130"/>
                    <a:pt x="398399" y="406781"/>
                    <a:pt x="395605" y="407924"/>
                  </a:cubicBezTo>
                  <a:cubicBezTo>
                    <a:pt x="392811" y="409067"/>
                    <a:pt x="389890" y="409702"/>
                    <a:pt x="386842" y="409702"/>
                  </a:cubicBezTo>
                  <a:lnTo>
                    <a:pt x="22733" y="409702"/>
                  </a:lnTo>
                  <a:cubicBezTo>
                    <a:pt x="19685" y="409702"/>
                    <a:pt x="16764" y="409067"/>
                    <a:pt x="13970" y="407924"/>
                  </a:cubicBezTo>
                  <a:cubicBezTo>
                    <a:pt x="11176" y="406781"/>
                    <a:pt x="8763" y="405130"/>
                    <a:pt x="6604" y="402971"/>
                  </a:cubicBezTo>
                  <a:cubicBezTo>
                    <a:pt x="4445" y="400812"/>
                    <a:pt x="2794" y="398399"/>
                    <a:pt x="1651" y="395605"/>
                  </a:cubicBezTo>
                  <a:cubicBezTo>
                    <a:pt x="508" y="392811"/>
                    <a:pt x="0" y="389763"/>
                    <a:pt x="0" y="386842"/>
                  </a:cubicBezTo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829300" y="6200623"/>
            <a:ext cx="409575" cy="409575"/>
            <a:chOff x="0" y="0"/>
            <a:chExt cx="409575" cy="4095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9702" cy="409702"/>
            </a:xfrm>
            <a:custGeom>
              <a:avLst/>
              <a:gdLst/>
              <a:ahLst/>
              <a:cxnLst/>
              <a:rect r="r" b="b" t="t" l="l"/>
              <a:pathLst>
                <a:path h="409702" w="409702">
                  <a:moveTo>
                    <a:pt x="0" y="38684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604" y="6604"/>
                  </a:cubicBezTo>
                  <a:cubicBezTo>
                    <a:pt x="8636" y="4445"/>
                    <a:pt x="11303" y="2921"/>
                    <a:pt x="14097" y="1778"/>
                  </a:cubicBezTo>
                  <a:cubicBezTo>
                    <a:pt x="16891" y="635"/>
                    <a:pt x="19685" y="0"/>
                    <a:pt x="22733" y="0"/>
                  </a:cubicBezTo>
                  <a:lnTo>
                    <a:pt x="386842" y="0"/>
                  </a:lnTo>
                  <a:cubicBezTo>
                    <a:pt x="389890" y="0"/>
                    <a:pt x="392811" y="635"/>
                    <a:pt x="395605" y="1778"/>
                  </a:cubicBezTo>
                  <a:cubicBezTo>
                    <a:pt x="398399" y="2921"/>
                    <a:pt x="400812" y="4572"/>
                    <a:pt x="402971" y="6731"/>
                  </a:cubicBezTo>
                  <a:cubicBezTo>
                    <a:pt x="405130" y="8890"/>
                    <a:pt x="406781" y="11303"/>
                    <a:pt x="407924" y="14097"/>
                  </a:cubicBezTo>
                  <a:cubicBezTo>
                    <a:pt x="409067" y="16891"/>
                    <a:pt x="409702" y="19812"/>
                    <a:pt x="409702" y="22860"/>
                  </a:cubicBezTo>
                  <a:lnTo>
                    <a:pt x="409702" y="386842"/>
                  </a:lnTo>
                  <a:cubicBezTo>
                    <a:pt x="409702" y="389890"/>
                    <a:pt x="409067" y="392811"/>
                    <a:pt x="407924" y="395605"/>
                  </a:cubicBezTo>
                  <a:cubicBezTo>
                    <a:pt x="406781" y="398399"/>
                    <a:pt x="405130" y="400812"/>
                    <a:pt x="402971" y="402971"/>
                  </a:cubicBezTo>
                  <a:cubicBezTo>
                    <a:pt x="400812" y="405130"/>
                    <a:pt x="398399" y="406781"/>
                    <a:pt x="395605" y="407924"/>
                  </a:cubicBezTo>
                  <a:cubicBezTo>
                    <a:pt x="392811" y="409067"/>
                    <a:pt x="389890" y="409702"/>
                    <a:pt x="386842" y="409702"/>
                  </a:cubicBezTo>
                  <a:lnTo>
                    <a:pt x="22733" y="409702"/>
                  </a:lnTo>
                  <a:cubicBezTo>
                    <a:pt x="19685" y="409702"/>
                    <a:pt x="16764" y="409194"/>
                    <a:pt x="13970" y="407924"/>
                  </a:cubicBezTo>
                  <a:cubicBezTo>
                    <a:pt x="11176" y="406654"/>
                    <a:pt x="8763" y="405130"/>
                    <a:pt x="6604" y="402971"/>
                  </a:cubicBezTo>
                  <a:cubicBezTo>
                    <a:pt x="4445" y="400812"/>
                    <a:pt x="2794" y="398399"/>
                    <a:pt x="1651" y="395605"/>
                  </a:cubicBezTo>
                  <a:cubicBezTo>
                    <a:pt x="508" y="392811"/>
                    <a:pt x="0" y="389763"/>
                    <a:pt x="0" y="386842"/>
                  </a:cubicBezTo>
                </a:path>
              </a:pathLst>
            </a:custGeom>
            <a:solidFill>
              <a:srgbClr val="2B2952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5829300" y="7877023"/>
            <a:ext cx="409575" cy="409575"/>
            <a:chOff x="0" y="0"/>
            <a:chExt cx="409575" cy="409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9702" cy="409702"/>
            </a:xfrm>
            <a:custGeom>
              <a:avLst/>
              <a:gdLst/>
              <a:ahLst/>
              <a:cxnLst/>
              <a:rect r="r" b="b" t="t" l="l"/>
              <a:pathLst>
                <a:path h="409702" w="409702">
                  <a:moveTo>
                    <a:pt x="0" y="38684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604" y="6731"/>
                  </a:cubicBezTo>
                  <a:cubicBezTo>
                    <a:pt x="8636" y="4699"/>
                    <a:pt x="11303" y="2921"/>
                    <a:pt x="14097" y="1778"/>
                  </a:cubicBezTo>
                  <a:cubicBezTo>
                    <a:pt x="16891" y="635"/>
                    <a:pt x="19685" y="0"/>
                    <a:pt x="22733" y="0"/>
                  </a:cubicBezTo>
                  <a:lnTo>
                    <a:pt x="386842" y="0"/>
                  </a:lnTo>
                  <a:cubicBezTo>
                    <a:pt x="389890" y="0"/>
                    <a:pt x="392811" y="635"/>
                    <a:pt x="395605" y="1778"/>
                  </a:cubicBezTo>
                  <a:cubicBezTo>
                    <a:pt x="398399" y="2921"/>
                    <a:pt x="400812" y="4572"/>
                    <a:pt x="402971" y="6731"/>
                  </a:cubicBezTo>
                  <a:cubicBezTo>
                    <a:pt x="405130" y="8890"/>
                    <a:pt x="406781" y="11303"/>
                    <a:pt x="407924" y="14097"/>
                  </a:cubicBezTo>
                  <a:cubicBezTo>
                    <a:pt x="409067" y="16891"/>
                    <a:pt x="409702" y="19812"/>
                    <a:pt x="409702" y="22860"/>
                  </a:cubicBezTo>
                  <a:lnTo>
                    <a:pt x="409702" y="386842"/>
                  </a:lnTo>
                  <a:cubicBezTo>
                    <a:pt x="409702" y="389890"/>
                    <a:pt x="409067" y="392811"/>
                    <a:pt x="407924" y="395605"/>
                  </a:cubicBezTo>
                  <a:cubicBezTo>
                    <a:pt x="406781" y="398399"/>
                    <a:pt x="405130" y="400812"/>
                    <a:pt x="402971" y="402971"/>
                  </a:cubicBezTo>
                  <a:cubicBezTo>
                    <a:pt x="400812" y="405130"/>
                    <a:pt x="398399" y="406781"/>
                    <a:pt x="395605" y="407924"/>
                  </a:cubicBezTo>
                  <a:cubicBezTo>
                    <a:pt x="392811" y="409067"/>
                    <a:pt x="389890" y="409702"/>
                    <a:pt x="386842" y="409702"/>
                  </a:cubicBezTo>
                  <a:lnTo>
                    <a:pt x="22733" y="409702"/>
                  </a:lnTo>
                  <a:cubicBezTo>
                    <a:pt x="19685" y="409702"/>
                    <a:pt x="16764" y="409067"/>
                    <a:pt x="13970" y="407924"/>
                  </a:cubicBezTo>
                  <a:cubicBezTo>
                    <a:pt x="11176" y="406781"/>
                    <a:pt x="8763" y="405130"/>
                    <a:pt x="6604" y="402971"/>
                  </a:cubicBezTo>
                  <a:cubicBezTo>
                    <a:pt x="4445" y="400812"/>
                    <a:pt x="2794" y="398399"/>
                    <a:pt x="1651" y="395605"/>
                  </a:cubicBezTo>
                  <a:cubicBezTo>
                    <a:pt x="508" y="392811"/>
                    <a:pt x="0" y="389763"/>
                    <a:pt x="0" y="386842"/>
                  </a:cubicBezTo>
                </a:path>
              </a:pathLst>
            </a:custGeom>
            <a:solidFill>
              <a:srgbClr val="2B295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37575" y="4359011"/>
            <a:ext cx="8808310" cy="161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Extraction: Unlocking Visual Insights</a:t>
            </a:r>
          </a:p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9620" y="6633848"/>
            <a:ext cx="3704673" cy="86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Utilized state-of-the-art Convolutional Neural Networks (VGG16/ResNet) for deep feature extraction.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8985" y="7837275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620" y="8243573"/>
            <a:ext cx="4055793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Extracted features are pre-computed and stored,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significantly accelerating the training phase.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575" y="5719448"/>
            <a:ext cx="9325070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Leveraging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powerful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CNNs,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we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convert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raw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data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into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rich,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semantic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feature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vectors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for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efficient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processing.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87588" y="6160884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20888" y="6567173"/>
            <a:ext cx="4200735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Each image is condensed into a 2048-dimensional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feature vector, capturing its essence.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35536" y="7837275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20888" y="8243573"/>
            <a:ext cx="4241425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 inputs were normalized to ensure consistent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data distribution and enhance model stability.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9620" y="6237084"/>
            <a:ext cx="177043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CNN-Powered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9620" y="7913475"/>
            <a:ext cx="225441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Optimized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20888" y="7913475"/>
            <a:ext cx="239168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Normalization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20888" y="6237084"/>
            <a:ext cx="332707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2048-Dimensional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863652"/>
            <a:ext cx="11556997" cy="9251947"/>
          </a:xfrm>
          <a:custGeom>
            <a:avLst/>
            <a:gdLst/>
            <a:ahLst/>
            <a:cxnLst/>
            <a:rect r="r" b="b" t="t" l="l"/>
            <a:pathLst>
              <a:path h="9251947" w="11556997">
                <a:moveTo>
                  <a:pt x="0" y="0"/>
                </a:moveTo>
                <a:lnTo>
                  <a:pt x="11556997" y="0"/>
                </a:lnTo>
                <a:lnTo>
                  <a:pt x="11556997" y="9251946"/>
                </a:lnTo>
                <a:lnTo>
                  <a:pt x="0" y="925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575" y="1428694"/>
            <a:ext cx="104587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Architecture: Encoder-Decoder with Attention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003" y="2731980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7575" y="9275665"/>
            <a:ext cx="8513969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This innovative Seq2Seq architecture is specifically designed for generating descriptive Arabic captions.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7575" y="2846280"/>
            <a:ext cx="10123418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Oursystemcombines a CNNencoderwithanLSTMdecoder,integratinganattentionmechanismtofocusonsalientimage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7575" y="3141555"/>
            <a:ext cx="2807494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regions during caption generation.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2347" y="6984264"/>
            <a:ext cx="1666351" cy="2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b="true" sz="1692" spc="71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 Encoder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4994" y="4729906"/>
            <a:ext cx="1114168" cy="2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b="true" sz="1692" spc="71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Attention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93610" y="7654481"/>
            <a:ext cx="1792567" cy="2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b="true" sz="1692" spc="71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LSTM Decoder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43635" y="5329048"/>
            <a:ext cx="1697031" cy="2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b="true" sz="1692" spc="71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Arabic 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38175" y="3006623"/>
            <a:ext cx="4857750" cy="4857750"/>
            <a:chOff x="0" y="0"/>
            <a:chExt cx="6477000" cy="647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6477000">
                  <a:moveTo>
                    <a:pt x="30099" y="0"/>
                  </a:moveTo>
                  <a:cubicBezTo>
                    <a:pt x="21844" y="0"/>
                    <a:pt x="14732" y="3048"/>
                    <a:pt x="8890" y="8890"/>
                  </a:cubicBezTo>
                  <a:cubicBezTo>
                    <a:pt x="3048" y="14732"/>
                    <a:pt x="0" y="21971"/>
                    <a:pt x="0" y="30353"/>
                  </a:cubicBezTo>
                  <a:lnTo>
                    <a:pt x="0" y="6446647"/>
                  </a:lnTo>
                  <a:cubicBezTo>
                    <a:pt x="0" y="6455029"/>
                    <a:pt x="2921" y="6462141"/>
                    <a:pt x="8890" y="6468110"/>
                  </a:cubicBezTo>
                  <a:cubicBezTo>
                    <a:pt x="14859" y="6474079"/>
                    <a:pt x="21971" y="6477000"/>
                    <a:pt x="30353" y="6477000"/>
                  </a:cubicBezTo>
                  <a:lnTo>
                    <a:pt x="6446647" y="6477000"/>
                  </a:lnTo>
                  <a:cubicBezTo>
                    <a:pt x="6455029" y="6477000"/>
                    <a:pt x="6462141" y="6474079"/>
                    <a:pt x="6468110" y="6468110"/>
                  </a:cubicBezTo>
                  <a:cubicBezTo>
                    <a:pt x="6474079" y="6462141"/>
                    <a:pt x="6477000" y="6455029"/>
                    <a:pt x="6477000" y="6446647"/>
                  </a:cubicBezTo>
                  <a:lnTo>
                    <a:pt x="6477000" y="30353"/>
                  </a:lnTo>
                  <a:cubicBezTo>
                    <a:pt x="6477000" y="21971"/>
                    <a:pt x="6474079" y="14859"/>
                    <a:pt x="6468110" y="8890"/>
                  </a:cubicBezTo>
                  <a:cubicBezTo>
                    <a:pt x="6462141" y="2921"/>
                    <a:pt x="6455156" y="0"/>
                    <a:pt x="64469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85800" y="8635898"/>
            <a:ext cx="57150" cy="57150"/>
            <a:chOff x="0" y="0"/>
            <a:chExt cx="5715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85800" y="8997848"/>
            <a:ext cx="57150" cy="5715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85800" y="9350273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943600" y="3006623"/>
            <a:ext cx="4857750" cy="4857750"/>
            <a:chOff x="0" y="0"/>
            <a:chExt cx="6477000" cy="64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6477000">
                  <a:moveTo>
                    <a:pt x="30099" y="0"/>
                  </a:moveTo>
                  <a:cubicBezTo>
                    <a:pt x="21844" y="0"/>
                    <a:pt x="14732" y="3048"/>
                    <a:pt x="8890" y="8890"/>
                  </a:cubicBezTo>
                  <a:cubicBezTo>
                    <a:pt x="3048" y="14732"/>
                    <a:pt x="0" y="21971"/>
                    <a:pt x="0" y="30353"/>
                  </a:cubicBezTo>
                  <a:lnTo>
                    <a:pt x="0" y="6446647"/>
                  </a:lnTo>
                  <a:cubicBezTo>
                    <a:pt x="0" y="6455029"/>
                    <a:pt x="2921" y="6462141"/>
                    <a:pt x="8890" y="6468110"/>
                  </a:cubicBezTo>
                  <a:cubicBezTo>
                    <a:pt x="14859" y="6474079"/>
                    <a:pt x="21971" y="6477000"/>
                    <a:pt x="30353" y="6477000"/>
                  </a:cubicBezTo>
                  <a:lnTo>
                    <a:pt x="6446647" y="6477000"/>
                  </a:lnTo>
                  <a:cubicBezTo>
                    <a:pt x="6455029" y="6477000"/>
                    <a:pt x="6462141" y="6474079"/>
                    <a:pt x="6468110" y="6468110"/>
                  </a:cubicBezTo>
                  <a:cubicBezTo>
                    <a:pt x="6474079" y="6462141"/>
                    <a:pt x="6477000" y="6455029"/>
                    <a:pt x="6477000" y="6446647"/>
                  </a:cubicBezTo>
                  <a:lnTo>
                    <a:pt x="6477000" y="30353"/>
                  </a:lnTo>
                  <a:cubicBezTo>
                    <a:pt x="6477000" y="21971"/>
                    <a:pt x="6474079" y="14859"/>
                    <a:pt x="6468110" y="8890"/>
                  </a:cubicBezTo>
                  <a:cubicBezTo>
                    <a:pt x="6462141" y="2921"/>
                    <a:pt x="6455156" y="0"/>
                    <a:pt x="644690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991225" y="8635898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991225" y="9283598"/>
            <a:ext cx="57150" cy="5715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9E1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37575" y="1641262"/>
            <a:ext cx="1033404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&amp; Testing: Optimizing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5999" y="2173024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8840" y="8449999"/>
            <a:ext cx="4314053" cy="10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Cross-entropy loss function for robust learning. Adam optimizer for efficient weight updates. BLEU score used for quantitative caption evaluation.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575" y="2315899"/>
            <a:ext cx="8005134" cy="26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Rigorous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training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and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evaluation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ensure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delivers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high-quality,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accurate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Arabic</a:t>
            </a:r>
            <a:r>
              <a:rPr lang="en-US" sz="14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captions.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37989" y="8497624"/>
            <a:ext cx="4519260" cy="93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Interactive Graphical User Interface (GUI) for real-time visualization.</a:t>
            </a:r>
          </a:p>
          <a:p>
            <a:pPr algn="l">
              <a:lnSpc>
                <a:spcPts val="322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Facilitates easy testing and demonstration of results.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575" y="8034176"/>
            <a:ext cx="298431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Training Parameters: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46724" y="8034176"/>
            <a:ext cx="17706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GUI for Insight: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1879644"/>
            <a:ext cx="11556997" cy="7223122"/>
          </a:xfrm>
          <a:custGeom>
            <a:avLst/>
            <a:gdLst/>
            <a:ahLst/>
            <a:cxnLst/>
            <a:rect r="r" b="b" t="t" l="l"/>
            <a:pathLst>
              <a:path h="7223122" w="11556997">
                <a:moveTo>
                  <a:pt x="0" y="0"/>
                </a:moveTo>
                <a:lnTo>
                  <a:pt x="11556997" y="0"/>
                </a:lnTo>
                <a:lnTo>
                  <a:pt x="11556997" y="7223121"/>
                </a:lnTo>
                <a:lnTo>
                  <a:pt x="0" y="722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575" y="2444686"/>
            <a:ext cx="920923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Summary: Performance at 25 Epochs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1966" y="3747972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5361" y="5094283"/>
            <a:ext cx="526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7575" y="5510097"/>
            <a:ext cx="5056794" cy="6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 model achieved a low training loss, indicating successful </a:t>
            </a:r>
          </a:p>
          <a:p>
            <a:pPr algn="l">
              <a:lnSpc>
                <a:spcPts val="160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learning from the dataset.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6639" y="5094283"/>
            <a:ext cx="526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28852" y="5510097"/>
            <a:ext cx="4200125" cy="65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 validation loss remained close to training loss, </a:t>
            </a:r>
          </a:p>
          <a:p>
            <a:pPr algn="l">
              <a:lnSpc>
                <a:spcPts val="160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suggesting good generalization.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575" y="3862272"/>
            <a:ext cx="10275970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After25epochs,themodeldemonstratesstrongperformanceinbothtrainingandvalidation,indicatingeffectivelearning and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7565" y="4157547"/>
            <a:ext cx="1207646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generalization.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361" y="6980233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575" y="7386522"/>
            <a:ext cx="5030067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High accuracy on the training set confirms the model's ability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to fit the data.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28852" y="7386522"/>
            <a:ext cx="4901803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Solid validation accuracy indicates the model performs well </a:t>
            </a:r>
          </a:p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on unseen data.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7575" y="8119947"/>
            <a:ext cx="7919304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These metrics confirm the model's stability and readiness for further deployment and refinement.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82741" y="6558105"/>
            <a:ext cx="834761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b="true" sz="1792" spc="86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71.83%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46892" y="4691205"/>
            <a:ext cx="769277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b="true" sz="1792" spc="75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1.5739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6825" y="6558105"/>
            <a:ext cx="933869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b="true" sz="1792" spc="75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70.05%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6378" y="4691205"/>
            <a:ext cx="771125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b="true" sz="1792" spc="75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1.8202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575" y="5180008"/>
            <a:ext cx="21912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575" y="7056433"/>
            <a:ext cx="280287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28852" y="5180008"/>
            <a:ext cx="245157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28852" y="7056433"/>
            <a:ext cx="306322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8778" y="4304186"/>
            <a:ext cx="3462699" cy="3569198"/>
          </a:xfrm>
          <a:custGeom>
            <a:avLst/>
            <a:gdLst/>
            <a:ahLst/>
            <a:cxnLst/>
            <a:rect r="r" b="b" t="t" l="l"/>
            <a:pathLst>
              <a:path h="3569198" w="3462699">
                <a:moveTo>
                  <a:pt x="0" y="0"/>
                </a:moveTo>
                <a:lnTo>
                  <a:pt x="3462699" y="0"/>
                </a:lnTo>
                <a:lnTo>
                  <a:pt x="3462699" y="3569198"/>
                </a:lnTo>
                <a:lnTo>
                  <a:pt x="0" y="35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575" y="2860615"/>
            <a:ext cx="642462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Directions &amp;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003" y="3392376"/>
            <a:ext cx="51645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311" y="5011626"/>
            <a:ext cx="2930614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Providing visual context for visually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3526" y="5306901"/>
            <a:ext cx="2136115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impaired Arabic speakers.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70821" y="6462713"/>
            <a:ext cx="52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1565" y="6869001"/>
            <a:ext cx="3189446" cy="34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 foundation for advanced Arabic NLP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1296" y="7288101"/>
            <a:ext cx="1444800" cy="22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7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and CV research.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7575" y="3506676"/>
            <a:ext cx="9999536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OurArabic imagecaptioningsystemlaysthegroundworkforimpactfulapplications, from enhancing digital accessibility to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7575" y="3801951"/>
            <a:ext cx="2414873" cy="29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enriching multimedia content.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09219" y="5491162"/>
            <a:ext cx="526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6334" y="5906976"/>
            <a:ext cx="2900086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Improving search and organization </a:t>
            </a:r>
          </a:p>
          <a:p>
            <a:pPr algn="l">
              <a:lnSpc>
                <a:spcPts val="145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of visual content.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2003" y="6767512"/>
            <a:ext cx="2972019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>
              <a:lnSpc>
                <a:spcPts val="304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Facilitating learning with descriptive </a:t>
            </a:r>
          </a:p>
          <a:p>
            <a:pPr algn="l">
              <a:lnSpc>
                <a:spcPts val="145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imagery.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75" y="7945326"/>
            <a:ext cx="10226678" cy="40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This project represents a significant step towards more inclusive and intelligent AI experiences for the Arabic-speaking world.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9410" y="4214812"/>
            <a:ext cx="526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2003" y="4630626"/>
            <a:ext cx="3416056" cy="64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Automating descriptions for global Arabic </a:t>
            </a:r>
          </a:p>
          <a:p>
            <a:pPr algn="l">
              <a:lnSpc>
                <a:spcPts val="1451"/>
              </a:lnSpc>
            </a:pPr>
            <a:r>
              <a:rPr lang="en-US" sz="1434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audiences.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69061" y="4624387"/>
            <a:ext cx="14980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Accessibility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604" y="6538913"/>
            <a:ext cx="30529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92003" y="6853237"/>
            <a:ext cx="213811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Educational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6334" y="5576887"/>
            <a:ext cx="184934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Indexing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92003" y="4300537"/>
            <a:ext cx="251628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  <a:r>
              <a:rPr lang="en-US" b="true" sz="1687" spc="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687" spc="70">
                <a:solidFill>
                  <a:srgbClr val="D9E1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DAG7zZZ_M4g</dc:identifier>
  <dcterms:modified xsi:type="dcterms:W3CDTF">2011-08-01T06:04:30Z</dcterms:modified>
  <cp:revision>1</cp:revision>
  <dc:title>Arabic-AI-Generating-Image-Captions.pdf</dc:title>
</cp:coreProperties>
</file>